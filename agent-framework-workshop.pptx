
<file path=[Content_Types].xml><?xml version="1.0" encoding="utf-8"?>
<Types xmlns="http://schemas.openxmlformats.org/package/2006/content-types">
  <Default Extension="Default" ContentType="image/png"/>
  <Default Extension="gif" ContentType="image/gi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  <p:sldMasterId id="2147483663" r:id="rId2"/>
  </p:sldMasterIdLst>
  <p:notesMasterIdLst>
    <p:notesMasterId r:id="rId24"/>
  </p:notesMasterIdLst>
  <p:sldIdLst>
    <p:sldId id="256" r:id="rId3"/>
    <p:sldId id="257" r:id="rId4"/>
    <p:sldId id="274" r:id="rId5"/>
    <p:sldId id="276" r:id="rId6"/>
    <p:sldId id="258" r:id="rId7"/>
    <p:sldId id="259" r:id="rId8"/>
    <p:sldId id="277" r:id="rId9"/>
    <p:sldId id="278" r:id="rId10"/>
    <p:sldId id="275" r:id="rId11"/>
    <p:sldId id="261" r:id="rId12"/>
    <p:sldId id="262" r:id="rId13"/>
    <p:sldId id="271" r:id="rId14"/>
    <p:sldId id="27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9144000" cy="5143500" type="screen16x9"/>
  <p:notesSz cx="51435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89"/>
    <p:restoredTop sz="64659"/>
  </p:normalViewPr>
  <p:slideViewPr>
    <p:cSldViewPr snapToGrid="0" snapToObjects="1">
      <p:cViewPr>
        <p:scale>
          <a:sx n="138" d="100"/>
          <a:sy n="138" d="100"/>
        </p:scale>
        <p:origin x="4112" y="-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7834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Welcome!
Resources:
- Agent Framework: github.com/microsoft/agent-framework
- SRE Agent: learn.microsoft.com/azure/sre-agent
- AI Toolkit: code.visualstudio.com/docs/intelligentapps/overview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CE4E1-2C3E-2C0E-F2C3-E28C18467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F03C8D-FE91-64E3-CE5C-4C97DD3420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17E9D3-799E-55FD-BB85-D03C23B0F2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 AI agent is an LLM plus planning, memory, tools, and governance — and Microsoft Agent Framework provides the architecture that makes those capabilities reliable and enterprise-ready.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CF815-1159-F670-6C81-6546CD0E8B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3871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Agent Framework is NOT a replacement - it's the natural evolution.
Developers asked: 'Why can't we have both the innovation of AutoGen AND the trust of Semantic Kernel?'
AutoGen + Semantic Kernel teams merged into unified Agent Framework team.
AutoGen and SK are now in maintenance mode - all future dev on Agent Framework.
GA: Q1 2026
Ref: devblogs.microsoft.com/semantic-kernel/semantic-kernel-and-microsoft-agent-framework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Architecture: learn.microsoft.com/agent-framework/overview/agent-framework-overview
Azure multi-agent: learn.microsoft.com/azure/architecture/ai-ml/idea/multiple-agent-workflow-automation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Types:
- ChatClientAgent wraps any Extensions.AI ChatClient
- OpenAIResponsesAgent uses new Responses API (streaming, tools)
- AzureAIAgent runs in Azure AI Foundry
- BaseAgent for fully custom implementations
Threads can be serialized to JSON for storage/resumption.
Tools: AIFunctionFactory.Create() uses reflection to generate tool schemas from method signatures.
Ref: learn.microsoft.com/agent-framework/user-guide/agents/agent-types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patterns:
1. Agent creation with instructions (system prompt)
2. Tool registration - either inline or via factory
3. Thread creation for stateful conversations
4. Run execution with streaming for real-time feedback
5. Thread reuse for multi-turn conversations
Note: Token costs accumulate with thread history. Consider summarization for long conversations.
Ref: github.com/microsoft/agent-framework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CD68F-CFF7-363A-CB93-C13999F1C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3581A1-0571-8E57-52C7-1E7C6B9299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C4DD61-3F8B-8442-E286-06367AA8C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0DCEF2-DC2A-C82C-6632-3380036BE6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8541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DevUI: learn.microsoft.com/agent-framework/user-guide/devui
AI Toolkit: code.visualstudio.com/docs/intelligentapps/overview
Golden Triangle: devblogs.microsoft.com/semantic-kernel/the-golden-triangle-of-agentic-development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D8558-904A-B3D3-B66D-980F9E6D8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B97C23-02F7-90A1-2EFC-74DE9254CF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A2A8A7-152B-0458-B54E-BEE94FD37D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DevUI: learn.microsoft.com/agent-framework/user-guide/devui
AI Toolkit: code.visualstudio.com/docs/intelligentapps/overview
Golden Triangle: devblogs.microsoft.com/semantic-kernel/the-golden-triangle-of-agentic-development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352CF-D506-6E12-17A1-D676154B75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2828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F7D72-0F20-FF1F-45A5-9E1F7551F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3D969A-6D46-111C-6A45-D7E051C767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68EA00-9D4B-F9A5-68B0-BECD9FF27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DevUI: learn.microsoft.com/agent-framework/user-guide/devui
AI Toolkit: code.visualstudio.com/docs/intelligentapps/overview
Golden Triangle: devblogs.microsoft.com/semantic-kernel/the-golden-triangle-of-agentic-development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5BB6A9-2035-9E6A-DBC6-6F5EE53487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3778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Migration prompt: github.com/microsoft/agent-framework/blob/main/.github/upgrades/prompts/SemanticKernelToAgentFramework.md
Code Migration blog: techcommunity.microsoft.com/blog/azure-ai-foundry-blog/empowering-multi-agent-solutions-with-microsoft-agent-framework---code-migration/4468094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AG-UI Protocol: docs.ag-ui.com
GitHub: github.com/ag-ui-protocol/ag-ui
Microsoft Integration: learn.microsoft.com/agent-framework/integrations/ag-ui
AG-UI complements MCP (tools) and A2A (agent-to-agent) to complete the agentic protocol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04F2B-3A43-7F5B-3E69-A162631AC2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836EB5-B919-F4E1-32C8-333BFAF3EB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E8E48-7299-381A-E5C7-AB81F7D34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FAE0-55E0-404C-964C-858A076D6859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288E15-8169-05F5-4379-B586FBA17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75D25-1843-DEDC-0EC8-CF459A417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ABC1-4E32-6045-B08A-C1F670E39C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22805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4970D-CBE4-16D6-D73D-A583EB384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236BB-2712-5051-C3D1-0E259E5F61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BE9E37-308D-CC16-9AB4-D823384B9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FAE0-55E0-404C-964C-858A076D6859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6A2C53-3B09-2345-3A40-29575D580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4D5752-BC56-1C21-4ABC-6D7106CF8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ABC1-4E32-6045-B08A-C1F670E39C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87424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6FA22-480F-7935-4AFB-2CCBCE94FC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65A9F3-BF2F-F05F-8722-F13F0B327B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52C0DB-B3DF-596E-E421-80699DC9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FAE0-55E0-404C-964C-858A076D6859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7DD1F9-267D-D71F-633F-733CDE2C9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71C05C-0030-2C18-E0C5-30E91CB6E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ABC1-4E32-6045-B08A-C1F670E39C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82049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CD240-83B0-5057-EF62-571AF1EB9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04BC58-82B5-3A2F-2488-66407B0863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055EDA-3EE7-6283-458A-CA9A249B44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9BAD58-9A8C-50DA-F990-738DDB9AA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FAE0-55E0-404C-964C-858A076D6859}" type="datetimeFigureOut">
              <a:rPr lang="en-US" smtClean="0"/>
              <a:t>2/1/26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04180C-3511-D592-CB89-94AFBA9693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86D8B7-9A2B-16AC-D4A2-C68CAB1AC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ABC1-4E32-6045-B08A-C1F670E39C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071704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553EA-31DD-C121-FF26-1889F2F6B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D99DE8-B444-2770-A4B3-FE42F12DA0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7646BE-FA9B-134D-9FE1-27D530BF38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25545C-365B-1E3F-0715-2EC4B7A7E5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360DF9-03AC-FE99-3B1C-51FD759262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F3E785-C829-49F5-FBC6-5D2BF01A3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FAE0-55E0-404C-964C-858A076D6859}" type="datetimeFigureOut">
              <a:rPr lang="en-US" smtClean="0"/>
              <a:t>2/1/26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27DAC2-A8FA-3BC2-79A7-FE950723CE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C9B18C-8C7D-1CBA-B689-08A5EF79F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ABC1-4E32-6045-B08A-C1F670E39C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66530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145D6-F2CE-7A0F-B0FC-6363D5C0E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2847BC-B434-B6B2-F042-3AF81F72B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FAE0-55E0-404C-964C-858A076D6859}" type="datetimeFigureOut">
              <a:rPr lang="en-US" smtClean="0"/>
              <a:t>2/1/26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BCC112-7162-0A77-961F-851FEA57A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D4F758-6703-8A4D-21B5-5B13598CA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ABC1-4E32-6045-B08A-C1F670E39C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27009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3CC4EE-C472-C44B-7AF3-AD5444DBF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FAE0-55E0-404C-964C-858A076D6859}" type="datetimeFigureOut">
              <a:rPr lang="en-US" smtClean="0"/>
              <a:t>2/1/26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F06CAC-2416-9B64-F529-1A0300146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E8623A-F648-6BB0-4CA3-79A67C1F4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ABC1-4E32-6045-B08A-C1F670E39C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66327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BC24E-9902-FB6E-1BEA-A02C1219E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64CCD-AE61-77AF-3C15-3C7DA3021A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20265D-7948-AC8B-90CD-2ADA677BB2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16DB37-71C3-55B4-AAC7-29ED15321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FAE0-55E0-404C-964C-858A076D6859}" type="datetimeFigureOut">
              <a:rPr lang="en-US" smtClean="0"/>
              <a:t>2/1/26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2FE3E8-84EE-4C8C-8A92-35F5588AC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D0953-0C6A-36D6-B8D3-34261C2C5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ABC1-4E32-6045-B08A-C1F670E39C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7434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78AA0-A07D-EA3F-4C85-8390847F0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72D5EA1-EE58-EFBC-60E9-D8DA1FF954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CEB613-8A2E-F46E-5722-36CFE4CC65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580BBE-17E6-B6F9-5E05-2B0281718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FAE0-55E0-404C-964C-858A076D6859}" type="datetimeFigureOut">
              <a:rPr lang="en-US" smtClean="0"/>
              <a:t>2/1/26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36F3E-F9E7-DA64-48AA-6446EEED87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CC09E0-9538-7F1C-18AD-D5E0C0B2E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ABC1-4E32-6045-B08A-C1F670E39C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08572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6795E-1EF9-131D-74D0-816FDD101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D9E62A-C079-6AF9-A24B-E1228BCF8F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CB9A7C-08BF-ECC4-D435-C44258930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FAE0-55E0-404C-964C-858A076D6859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449450-3797-7619-22FE-CEF55424A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9B2EDB-CF71-DB3D-22FE-7729E9DEB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ABC1-4E32-6045-B08A-C1F670E39C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445022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C559F8-168B-F1ED-00C2-4AB26A8927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3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0EAE91-8F8C-1F7C-CE28-E8DAB59C3D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3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013769-2E48-913C-06BB-D703A3200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FAE0-55E0-404C-964C-858A076D6859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AF464-8B58-3F44-011E-B75FF35B3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D7DA3-31C4-78B1-57C0-888815FA8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CABC1-4E32-6045-B08A-C1F670E39C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33455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69992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2097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44A144-782D-BE27-87A0-32212099E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90157D-DCF4-C7D1-6B10-78D861024F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8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9A652D-ADFB-58C1-3DD6-E48C182A9F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B9FAE0-55E0-404C-964C-858A076D6859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5C5637-9B78-511F-E8E3-8B3ECEFB0C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47B7E-10CC-024F-6ACD-AC762EE0DC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ECABC1-4E32-6045-B08A-C1F670E39C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434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7132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JinLee794/AgentFrameworkLabs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18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.gif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Default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.png"/><Relationship Id="rId5" Type="http://schemas.openxmlformats.org/officeDocument/2006/relationships/image" Target="../media/image31.png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32.png"/><Relationship Id="rId4" Type="http://schemas.openxmlformats.org/officeDocument/2006/relationships/image" Target="../media/image4.png"/><Relationship Id="rId9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43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3474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1921161" y="11887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FFFF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Microsoft Agent Framework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1921161" y="182880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Azure SRE Agent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1921163" y="2651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Primitives  •  Extensibility  •  Developer Tooling  •  Hands-On Labs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424583" y="3840480"/>
            <a:ext cx="4292197" cy="91440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Jin Lee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sz="1400" dirty="0">
                <a:solidFill>
                  <a:schemeClr val="bg1"/>
                </a:solidFill>
              </a:rPr>
              <a:t>AI Apps Solutions Engineer</a:t>
            </a:r>
          </a:p>
          <a:p>
            <a:r>
              <a:rPr lang="en-US" sz="1400" dirty="0">
                <a:solidFill>
                  <a:schemeClr val="bg1"/>
                </a:solidFill>
              </a:rPr>
              <a:t>Microsoft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Shape 13"/>
          <p:cNvSpPr/>
          <p:nvPr/>
        </p:nvSpPr>
        <p:spPr>
          <a:xfrm>
            <a:off x="457200" y="4937760"/>
            <a:ext cx="365760" cy="73152"/>
          </a:xfrm>
          <a:prstGeom prst="rect">
            <a:avLst/>
          </a:prstGeom>
          <a:solidFill>
            <a:srgbClr val="F250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822960" y="4937760"/>
            <a:ext cx="365760" cy="73152"/>
          </a:xfrm>
          <a:prstGeom prst="rect">
            <a:avLst/>
          </a:prstGeom>
          <a:solidFill>
            <a:srgbClr val="7FB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1188720" y="4937760"/>
            <a:ext cx="365760" cy="73152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1554480" y="4937760"/>
            <a:ext cx="365760" cy="73152"/>
          </a:xfrm>
          <a:prstGeom prst="rect">
            <a:avLst/>
          </a:prstGeom>
          <a:solidFill>
            <a:srgbClr val="FFB90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Picture 20" descr="NuGet Gallery | MicrosoftAgentFramework">
            <a:extLst>
              <a:ext uri="{FF2B5EF4-FFF2-40B4-BE49-F238E27FC236}">
                <a16:creationId xmlns:a16="http://schemas.microsoft.com/office/drawing/2014/main" id="{3CDA4D60-0BAF-1443-7E95-074D355F7B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52" y="808932"/>
            <a:ext cx="1491095" cy="1491095"/>
          </a:xfrm>
          <a:prstGeom prst="rect">
            <a:avLst/>
          </a:prstGeom>
        </p:spPr>
      </p:pic>
      <p:pic>
        <p:nvPicPr>
          <p:cNvPr id="23" name="Picture 22" descr="Microsoft Azure Logo, symbol, meaning, history, PNG, brand">
            <a:extLst>
              <a:ext uri="{FF2B5EF4-FFF2-40B4-BE49-F238E27FC236}">
                <a16:creationId xmlns:a16="http://schemas.microsoft.com/office/drawing/2014/main" id="{7E209AFD-F647-5AA2-3CA8-DF88750717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041" y="1644751"/>
            <a:ext cx="1465117" cy="824129"/>
          </a:xfrm>
          <a:prstGeom prst="rect">
            <a:avLst/>
          </a:prstGeom>
        </p:spPr>
      </p:pic>
      <p:sp>
        <p:nvSpPr>
          <p:cNvPr id="26" name="Shape 6">
            <a:extLst>
              <a:ext uri="{FF2B5EF4-FFF2-40B4-BE49-F238E27FC236}">
                <a16:creationId xmlns:a16="http://schemas.microsoft.com/office/drawing/2014/main" id="{43FC3492-69DC-2092-7AB4-809DA2072C5E}"/>
              </a:ext>
            </a:extLst>
          </p:cNvPr>
          <p:cNvSpPr/>
          <p:nvPr/>
        </p:nvSpPr>
        <p:spPr>
          <a:xfrm>
            <a:off x="4716780" y="3840480"/>
            <a:ext cx="3942831" cy="91440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br>
              <a:rPr lang="en-US" sz="1600" dirty="0">
                <a:solidFill>
                  <a:schemeClr val="bg1"/>
                </a:solidFill>
                <a:hlinkClick r:id="rId6"/>
              </a:rPr>
            </a:br>
            <a:r>
              <a:rPr lang="en-US" sz="1600" dirty="0">
                <a:solidFill>
                  <a:schemeClr val="bg1"/>
                </a:solidFill>
              </a:rPr>
              <a:t>	</a:t>
            </a:r>
            <a:r>
              <a:rPr lang="en-US" sz="1600" b="1" i="1" dirty="0">
                <a:solidFill>
                  <a:schemeClr val="bg1"/>
                </a:solidFill>
                <a:latin typeface="+mj-lt"/>
                <a:hlinkClick r:id="rId6"/>
              </a:rPr>
              <a:t>JinLee794/AgentFrameworkLabs</a:t>
            </a:r>
            <a:endParaRPr lang="en-US" sz="1600" b="1" i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27" name="Image 1" descr="preencoded.png">
            <a:extLst>
              <a:ext uri="{FF2B5EF4-FFF2-40B4-BE49-F238E27FC236}">
                <a16:creationId xmlns:a16="http://schemas.microsoft.com/office/drawing/2014/main" id="{80346FC7-8582-0B30-1CA1-6483BD5AE9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4743" y="40233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27432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Agenda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822960" cy="713232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1097280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10m</a:t>
            </a:r>
            <a:endParaRPr lang="en-US" sz="14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1234440"/>
            <a:ext cx="438912" cy="4389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011680" y="120700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Framework &amp; Architecture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2011680" y="15087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Primitives, workflow patterns, and ecosystem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1901952"/>
            <a:ext cx="822960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57200" y="1901952"/>
            <a:ext cx="822960" cy="713232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457200" y="1901952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15m</a:t>
            </a:r>
            <a:endParaRPr lang="en-US" sz="14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7320" y="2039112"/>
            <a:ext cx="438912" cy="43891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011680" y="20116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1: Build Your First Agent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2011680" y="231343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Hands-on with Agents, Threads, Runs, and Tools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57200" y="2706624"/>
            <a:ext cx="822960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457200" y="2706624"/>
            <a:ext cx="822960" cy="713232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457200" y="2706624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10m</a:t>
            </a:r>
            <a:endParaRPr lang="en-US" sz="14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7320" y="2843784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2011680" y="281635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 Tooling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2011680" y="311810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DevUI, VS Code AI Toolkit, and GitHub Copilot prompts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57200" y="3511296"/>
            <a:ext cx="822960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457200" y="3511296"/>
            <a:ext cx="822960" cy="713232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/>
          <p:nvPr/>
        </p:nvSpPr>
        <p:spPr>
          <a:xfrm>
            <a:off x="457200" y="3511296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15m</a:t>
            </a:r>
            <a:endParaRPr lang="en-US" sz="14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7320" y="3648456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2011680" y="3621024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SRE Agent Deep Dive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2011680" y="392277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Capabilities, memory system, and extensibility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457200" y="4320693"/>
            <a:ext cx="822960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457200" y="4320693"/>
            <a:ext cx="822960" cy="713232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4"/>
          <p:cNvSpPr/>
          <p:nvPr/>
        </p:nvSpPr>
        <p:spPr>
          <a:xfrm>
            <a:off x="457200" y="4320693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10m</a:t>
            </a:r>
            <a:endParaRPr lang="en-US" sz="14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7320" y="4453128"/>
            <a:ext cx="438912" cy="43891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2011680" y="4425696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2 &amp; 3: SRE Agent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2011680" y="4732173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Interaction, sub-agents, and MCP workflows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E3FAB-E01F-0637-C446-F92DB60D6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EC258D5-4C6E-C1CE-8157-F2C7C07D9EE2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A89B6EC1-78E5-8664-4651-E58DF35B6248}"/>
              </a:ext>
            </a:extLst>
          </p:cNvPr>
          <p:cNvSpPr/>
          <p:nvPr/>
        </p:nvSpPr>
        <p:spPr>
          <a:xfrm>
            <a:off x="1097280" y="320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600" dirty="0"/>
          </a:p>
        </p:txBody>
      </p:sp>
      <p:pic>
        <p:nvPicPr>
          <p:cNvPr id="12" name="Picture 11" descr="Microsoft Azure Logo, symbol, meaning, history, PNG, brand">
            <a:extLst>
              <a:ext uri="{FF2B5EF4-FFF2-40B4-BE49-F238E27FC236}">
                <a16:creationId xmlns:a16="http://schemas.microsoft.com/office/drawing/2014/main" id="{860CA675-AEFF-103C-3EC9-A498AB02EF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078" y="320040"/>
            <a:ext cx="780922" cy="439269"/>
          </a:xfrm>
          <a:prstGeom prst="rect">
            <a:avLst/>
          </a:prstGeom>
        </p:spPr>
      </p:pic>
      <p:pic>
        <p:nvPicPr>
          <p:cNvPr id="15" name="Picture 14" descr="CData Developer Center">
            <a:extLst>
              <a:ext uri="{FF2B5EF4-FFF2-40B4-BE49-F238E27FC236}">
                <a16:creationId xmlns:a16="http://schemas.microsoft.com/office/drawing/2014/main" id="{3FD7CA2B-8352-FD35-3D25-7043D44411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714" y="3356637"/>
            <a:ext cx="449317" cy="39240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66C8AE8-A500-3146-DB73-CA94FA9D0A8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0094" t="3249" r="10172" b="11904"/>
          <a:stretch>
            <a:fillRect/>
          </a:stretch>
        </p:blipFill>
        <p:spPr>
          <a:xfrm>
            <a:off x="1620697" y="1097280"/>
            <a:ext cx="5555768" cy="3941379"/>
          </a:xfrm>
          <a:prstGeom prst="rect">
            <a:avLst/>
          </a:prstGeom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6687248B-9BDA-6626-F48E-CD3562098EDC}"/>
              </a:ext>
            </a:extLst>
          </p:cNvPr>
          <p:cNvSpPr/>
          <p:nvPr/>
        </p:nvSpPr>
        <p:spPr>
          <a:xfrm>
            <a:off x="1143000" y="302109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even </a:t>
            </a:r>
            <a:r>
              <a:rPr lang="en-US" sz="2600" b="1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 “Agent”?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2910966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Why Another Framework?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50E6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Natural Evolution: Uniting Innovation and Stability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3931920" cy="173736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3"/>
          <p:cNvSpPr/>
          <p:nvPr/>
        </p:nvSpPr>
        <p:spPr>
          <a:xfrm>
            <a:off x="457200" y="1234440"/>
            <a:ext cx="3931920" cy="73152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Kernel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640080" y="178308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E8ECF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Enterprise-grade integration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E8ECF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Type safety &amp; filters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E8ECF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Session-based state management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E8ECF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Extensive model/embedding support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754880" y="1234440"/>
            <a:ext cx="3931920" cy="173736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754880" y="1234440"/>
            <a:ext cx="3931920" cy="73152"/>
          </a:xfrm>
          <a:prstGeom prst="rect">
            <a:avLst/>
          </a:prstGeom>
          <a:solidFill>
            <a:srgbClr val="7FBA0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937760" y="1371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AutoGen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937760" y="178308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E8ECF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Multi-agent orchestration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E8ECF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Dynamic agent patterns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E8ECF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Research-driven innovation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E8ECF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conversation flows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4114800" y="30175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0E6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▼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57200" y="3246120"/>
            <a:ext cx="8229600" cy="13716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640080" y="33375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Agent Framework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640080" y="3794760"/>
            <a:ext cx="1874520" cy="731520"/>
          </a:xfrm>
          <a:prstGeom prst="rect">
            <a:avLst/>
          </a:prstGeom>
          <a:solidFill>
            <a:srgbClr val="0066B8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31520" y="3840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Ready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731520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E8ECF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OpenTelemetry, Entra ID, SLAs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2651760" y="3794760"/>
            <a:ext cx="1874520" cy="731520"/>
          </a:xfrm>
          <a:prstGeom prst="rect">
            <a:avLst/>
          </a:prstGeom>
          <a:solidFill>
            <a:srgbClr val="0066B8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2743200" y="3840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 Standards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2743200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E8ECF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MCP, A2A, AG-UI, OpenAPI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4663440" y="3794760"/>
            <a:ext cx="1874520" cy="731520"/>
          </a:xfrm>
          <a:prstGeom prst="rect">
            <a:avLst/>
          </a:prstGeom>
          <a:solidFill>
            <a:srgbClr val="0066B8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4754880" y="3840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Unified API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4754880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E8ECF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SDK, multiple languages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6675120" y="3794760"/>
            <a:ext cx="1874520" cy="731520"/>
          </a:xfrm>
          <a:prstGeom prst="rect">
            <a:avLst/>
          </a:prstGeom>
          <a:solidFill>
            <a:srgbClr val="0066B8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6766560" y="3840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Scale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6766560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E8ECF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Human-in-the-loop, durability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C6FA0E2A-F3D5-031C-1A7A-5B13984817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02" t="2222" r="3165" b="21042"/>
          <a:stretch>
            <a:fillRect/>
          </a:stretch>
        </p:blipFill>
        <p:spPr>
          <a:xfrm>
            <a:off x="1401991" y="957076"/>
            <a:ext cx="6008678" cy="3244764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1097280" y="320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Agent Framework: Architecture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57200" y="4136872"/>
            <a:ext cx="7034574" cy="686588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457200" y="4136872"/>
            <a:ext cx="62530" cy="68658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85800" y="4144974"/>
            <a:ext cx="6643764" cy="26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Unifies Semantic Kernel + AutoGen into production-ready SDK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85800" y="4465014"/>
            <a:ext cx="6643764" cy="26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 •  .NET  •  Java   |   OpenTelemetry Observability   |   Entra ID Authentication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 more: learn.microsoft.com/agent-framework/overview/agent-framework-overview</a:t>
            </a:r>
            <a:endParaRPr lang="en-US" sz="900" dirty="0"/>
          </a:p>
        </p:txBody>
      </p:sp>
      <p:pic>
        <p:nvPicPr>
          <p:cNvPr id="12" name="Picture 11" descr="Microsoft Azure Logo, symbol, meaning, history, PNG, brand">
            <a:extLst>
              <a:ext uri="{FF2B5EF4-FFF2-40B4-BE49-F238E27FC236}">
                <a16:creationId xmlns:a16="http://schemas.microsoft.com/office/drawing/2014/main" id="{BBAF218C-04CC-CF40-96BC-3B32859DD9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078" y="320040"/>
            <a:ext cx="780922" cy="439269"/>
          </a:xfrm>
          <a:prstGeom prst="rect">
            <a:avLst/>
          </a:prstGeom>
        </p:spPr>
      </p:pic>
      <p:pic>
        <p:nvPicPr>
          <p:cNvPr id="15" name="Picture 14" descr="CData Developer Center">
            <a:extLst>
              <a:ext uri="{FF2B5EF4-FFF2-40B4-BE49-F238E27FC236}">
                <a16:creationId xmlns:a16="http://schemas.microsoft.com/office/drawing/2014/main" id="{40F5511B-3AD6-A16C-4B34-91E0AFF528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7714" y="3356637"/>
            <a:ext cx="449317" cy="39240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286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Primitives: The Core Concepts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29382" y="1005840"/>
            <a:ext cx="1965960" cy="31089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329382" y="1005840"/>
            <a:ext cx="1965960" cy="73152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55162" y="1234440"/>
            <a:ext cx="914400" cy="914400"/>
          </a:xfrm>
          <a:prstGeom prst="ellipse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042" y="1417320"/>
            <a:ext cx="548640" cy="548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20822" y="22860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969462" y="2697480"/>
            <a:ext cx="685800" cy="36576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466542" y="2834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persona with instructions, model, and tool bindings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2523942" y="1005840"/>
            <a:ext cx="1965960" cy="31089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2523942" y="1005840"/>
            <a:ext cx="1965960" cy="73152"/>
          </a:xfrm>
          <a:prstGeom prst="rect">
            <a:avLst/>
          </a:prstGeom>
          <a:solidFill>
            <a:srgbClr val="7FB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3049722" y="1234440"/>
            <a:ext cx="914400" cy="914400"/>
          </a:xfrm>
          <a:prstGeom prst="ellipse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2602" y="1417320"/>
            <a:ext cx="548640" cy="5486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615382" y="22860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Thread</a:t>
            </a:r>
            <a:endParaRPr lang="en-US" sz="1800" dirty="0"/>
          </a:p>
        </p:txBody>
      </p:sp>
      <p:sp>
        <p:nvSpPr>
          <p:cNvPr id="16" name="Shape 11"/>
          <p:cNvSpPr/>
          <p:nvPr/>
        </p:nvSpPr>
        <p:spPr>
          <a:xfrm>
            <a:off x="3164022" y="2697480"/>
            <a:ext cx="685800" cy="36576"/>
          </a:xfrm>
          <a:prstGeom prst="rect">
            <a:avLst/>
          </a:prstGeom>
          <a:solidFill>
            <a:srgbClr val="7FB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2"/>
          <p:cNvSpPr/>
          <p:nvPr/>
        </p:nvSpPr>
        <p:spPr>
          <a:xfrm>
            <a:off x="2661102" y="2834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Conversation container with server-side persistence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718502" y="1005840"/>
            <a:ext cx="1965960" cy="31089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4718502" y="1005840"/>
            <a:ext cx="1965960" cy="73152"/>
          </a:xfrm>
          <a:prstGeom prst="rect">
            <a:avLst/>
          </a:prstGeom>
          <a:solidFill>
            <a:srgbClr val="FF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5244282" y="1234440"/>
            <a:ext cx="914400" cy="914400"/>
          </a:xfrm>
          <a:prstGeom prst="ellipse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7162" y="141732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4809942" y="22860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5358582" y="2697480"/>
            <a:ext cx="685800" cy="36576"/>
          </a:xfrm>
          <a:prstGeom prst="rect">
            <a:avLst/>
          </a:prstGeom>
          <a:solidFill>
            <a:srgbClr val="FF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18"/>
          <p:cNvSpPr/>
          <p:nvPr/>
        </p:nvSpPr>
        <p:spPr>
          <a:xfrm>
            <a:off x="4855662" y="2834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 execution with status lifecycle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913062" y="1005840"/>
            <a:ext cx="1965960" cy="31089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6913062" y="1005840"/>
            <a:ext cx="1965960" cy="73152"/>
          </a:xfrm>
          <a:prstGeom prst="rect">
            <a:avLst/>
          </a:prstGeom>
          <a:solidFill>
            <a:srgbClr val="F250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1"/>
          <p:cNvSpPr/>
          <p:nvPr/>
        </p:nvSpPr>
        <p:spPr>
          <a:xfrm>
            <a:off x="7438842" y="1234440"/>
            <a:ext cx="914400" cy="914400"/>
          </a:xfrm>
          <a:prstGeom prst="ellipse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1722" y="141732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004502" y="22860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Tools</a:t>
            </a:r>
            <a:endParaRPr lang="en-US" sz="1800" dirty="0"/>
          </a:p>
        </p:txBody>
      </p:sp>
      <p:sp>
        <p:nvSpPr>
          <p:cNvPr id="30" name="Shape 23"/>
          <p:cNvSpPr/>
          <p:nvPr/>
        </p:nvSpPr>
        <p:spPr>
          <a:xfrm>
            <a:off x="7553142" y="2697480"/>
            <a:ext cx="685800" cy="36576"/>
          </a:xfrm>
          <a:prstGeom prst="rect">
            <a:avLst/>
          </a:prstGeom>
          <a:solidFill>
            <a:srgbClr val="F250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4"/>
          <p:cNvSpPr/>
          <p:nvPr/>
        </p:nvSpPr>
        <p:spPr>
          <a:xfrm>
            <a:off x="7050222" y="2834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Interpreter, File Search, MCP, Custom functions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0E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 →  Thread  →  Run  →  Tool Calls  →  Response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Primitives Deep Dive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9319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73152" cy="1691640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325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Types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640080" y="169164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ChatClientAgent: Wraps any ChatClient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OpenAIResponsesAgent: Uses Responses API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AzureAIAgent: Azure AI Foundry hosted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BaseAgent: Custom implementations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754880" y="1143000"/>
            <a:ext cx="39319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754880" y="1143000"/>
            <a:ext cx="73152" cy="1691640"/>
          </a:xfrm>
          <a:prstGeom prst="rect">
            <a:avLst/>
          </a:prstGeom>
          <a:solidFill>
            <a:srgbClr val="7FBA0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28016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94960" y="1325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Thread Management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937760" y="169164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Maintains message history across turns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Serializable for persistence/resumption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Isolated contexts per conversation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Auto-created or explicitly managed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457200" y="2971800"/>
            <a:ext cx="39319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457200" y="2971800"/>
            <a:ext cx="73152" cy="1691640"/>
          </a:xfrm>
          <a:prstGeom prst="rect">
            <a:avLst/>
          </a:prstGeom>
          <a:solidFill>
            <a:srgbClr val="FFB90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10896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97280" y="3154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Lifecycle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640080" y="352044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RunAsync(): Complete response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RunStreamingAsync(): Token streaming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Status: queued → running → completed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Supports cancellation &amp; timeout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754880" y="2971800"/>
            <a:ext cx="39319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5"/>
          <p:cNvSpPr/>
          <p:nvPr/>
        </p:nvSpPr>
        <p:spPr>
          <a:xfrm>
            <a:off x="4754880" y="2971800"/>
            <a:ext cx="73152" cy="1691640"/>
          </a:xfrm>
          <a:prstGeom prst="rect">
            <a:avLst/>
          </a:prstGeom>
          <a:solidFill>
            <a:srgbClr val="F250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10896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94960" y="3154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Tools Ecosystem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4937760" y="352044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MCP: Model Context Protocol servers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OpenAPI: Any REST API as tool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AIFunctionFactory: Method → Tool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Built-in: Code Interpreter, File Search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457200" y="4892040"/>
            <a:ext cx="365760" cy="73152"/>
          </a:xfrm>
          <a:prstGeom prst="rect">
            <a:avLst/>
          </a:prstGeom>
          <a:solidFill>
            <a:srgbClr val="F250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19"/>
          <p:cNvSpPr/>
          <p:nvPr/>
        </p:nvSpPr>
        <p:spPr>
          <a:xfrm>
            <a:off x="822960" y="4892040"/>
            <a:ext cx="365760" cy="73152"/>
          </a:xfrm>
          <a:prstGeom prst="rect">
            <a:avLst/>
          </a:prstGeom>
          <a:solidFill>
            <a:srgbClr val="7FBA0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0"/>
          <p:cNvSpPr/>
          <p:nvPr/>
        </p:nvSpPr>
        <p:spPr>
          <a:xfrm>
            <a:off x="1188720" y="4892040"/>
            <a:ext cx="365760" cy="73152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1"/>
          <p:cNvSpPr/>
          <p:nvPr/>
        </p:nvSpPr>
        <p:spPr>
          <a:xfrm>
            <a:off x="1554480" y="4892040"/>
            <a:ext cx="365760" cy="73152"/>
          </a:xfrm>
          <a:prstGeom prst="rect">
            <a:avLst/>
          </a:prstGeom>
          <a:solidFill>
            <a:srgbClr val="FFB90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432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Primitives in Code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3977640" cy="4137890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2"/>
          <p:cNvSpPr/>
          <p:nvPr/>
        </p:nvSpPr>
        <p:spPr>
          <a:xfrm>
            <a:off x="548640" y="960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0E6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3794760" cy="3734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agent_framework.azure import AzureAIAgentsProvider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tool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azure.identity.aio import AzureCliCredential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get_weather(location: str) -&gt; str: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weather for a location."""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f"Weather in {location}: sunny, 22°C"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main():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async with (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AzureCliCredential() as credential,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AzureAIAgentsProvider(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credential=credential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 as provider,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):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Create agent with tools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agent = await provider.create_agent(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name="WeatherAgent",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instructions="You are a weather assistant",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tools=get_weather,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Non-streaming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 = await agent.run("Weather in Seattle?")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Streaming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async for chunk in agent.run_stream(query):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chunk.text: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print(chunk.text, end="")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572000" y="914399"/>
            <a:ext cx="4114800" cy="4137891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4800600" y="9601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0E6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C# / .NET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6"/>
          <p:cNvSpPr/>
          <p:nvPr/>
        </p:nvSpPr>
        <p:spPr>
          <a:xfrm>
            <a:off x="4800600" y="1234440"/>
            <a:ext cx="37947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Microsoft.Extensions.AI;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// Create chat client (OpenAI, Azure, Ollama, etc.)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 chatClient = new ChatClient("gpt-4o", apiKey)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.AsIChatClient();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// Create agent with instructions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ChatClientAgent(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chatClient,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ChatClientAgentOptions {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 = "WeatherAgent",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 = "You are a weather assistant."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});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// Register tools via AIFunctionFactory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agent.Tools.Add(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AIFunctionFactory.Create(GetWeather)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// Run (non-streaming)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var response = await agent.RunAsync(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"What's the weather in Seattle?");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Console.WriteLine(response.Text);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// Run with streaming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chunk in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agent.RunStreamingAsync("Tell me more"))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Console.Write(chunk.Text);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3EC5B-0B54-DC4B-0300-22DDDBC04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0E0D40C-F4A3-3158-0DB6-D127D7737AE2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9BAB0CD-E92C-D249-6594-87A2B22B1DFA}"/>
              </a:ext>
            </a:extLst>
          </p:cNvPr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Patterns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63792E6-BC56-F653-3862-794E50EC9418}"/>
              </a:ext>
            </a:extLst>
          </p:cNvPr>
          <p:cNvSpPr/>
          <p:nvPr/>
        </p:nvSpPr>
        <p:spPr>
          <a:xfrm>
            <a:off x="290055" y="1161146"/>
            <a:ext cx="20116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8B37936-B362-A2FA-2C0E-8AE765BDD9C5}"/>
              </a:ext>
            </a:extLst>
          </p:cNvPr>
          <p:cNvSpPr/>
          <p:nvPr/>
        </p:nvSpPr>
        <p:spPr>
          <a:xfrm>
            <a:off x="290055" y="1161146"/>
            <a:ext cx="2011680" cy="73152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3AFA42E-42AA-B0EE-5565-F3AFB4BAB18D}"/>
              </a:ext>
            </a:extLst>
          </p:cNvPr>
          <p:cNvSpPr/>
          <p:nvPr/>
        </p:nvSpPr>
        <p:spPr>
          <a:xfrm>
            <a:off x="381495" y="129830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Sequential</a:t>
            </a:r>
            <a:endParaRPr lang="en-US" sz="1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16491C6-A9CC-4EB8-850A-4768B7E6987F}"/>
              </a:ext>
            </a:extLst>
          </p:cNvPr>
          <p:cNvSpPr/>
          <p:nvPr/>
        </p:nvSpPr>
        <p:spPr>
          <a:xfrm>
            <a:off x="381495" y="166406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A4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→ B → C → Result</a:t>
            </a:r>
            <a:endParaRPr lang="en-US" sz="10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3C58F26-78F4-ACCC-9E29-648840A64E32}"/>
              </a:ext>
            </a:extLst>
          </p:cNvPr>
          <p:cNvSpPr/>
          <p:nvPr/>
        </p:nvSpPr>
        <p:spPr>
          <a:xfrm>
            <a:off x="381495" y="2212706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execute in order, passing results along the chain</a:t>
            </a:r>
            <a:endParaRPr lang="en-US" sz="9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91E13C6-1BE2-4B01-40D2-F9D27E36AB0A}"/>
              </a:ext>
            </a:extLst>
          </p:cNvPr>
          <p:cNvSpPr/>
          <p:nvPr/>
        </p:nvSpPr>
        <p:spPr>
          <a:xfrm>
            <a:off x="2484615" y="1161146"/>
            <a:ext cx="20116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0A04F3C-9192-7D84-42A4-B53B5D509014}"/>
              </a:ext>
            </a:extLst>
          </p:cNvPr>
          <p:cNvSpPr/>
          <p:nvPr/>
        </p:nvSpPr>
        <p:spPr>
          <a:xfrm>
            <a:off x="2484615" y="1161146"/>
            <a:ext cx="2011680" cy="73152"/>
          </a:xfrm>
          <a:prstGeom prst="rect">
            <a:avLst/>
          </a:prstGeom>
          <a:solidFill>
            <a:srgbClr val="7FB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E982B9B-D8F7-2CCB-485D-C4A8AD843ACC}"/>
              </a:ext>
            </a:extLst>
          </p:cNvPr>
          <p:cNvSpPr/>
          <p:nvPr/>
        </p:nvSpPr>
        <p:spPr>
          <a:xfrm>
            <a:off x="2576055" y="129830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</a:t>
            </a:r>
            <a:endParaRPr lang="en-US" sz="14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4F93443-3528-51AE-400B-9412563357F7}"/>
              </a:ext>
            </a:extLst>
          </p:cNvPr>
          <p:cNvSpPr/>
          <p:nvPr/>
        </p:nvSpPr>
        <p:spPr>
          <a:xfrm>
            <a:off x="3175144" y="1627490"/>
            <a:ext cx="8576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B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┬→ Result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FB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┤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FB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┘</a:t>
            </a:r>
            <a:endParaRPr lang="en-US" sz="10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34426AE-6DCE-3F7E-8EDA-234B053E1356}"/>
              </a:ext>
            </a:extLst>
          </p:cNvPr>
          <p:cNvSpPr/>
          <p:nvPr/>
        </p:nvSpPr>
        <p:spPr>
          <a:xfrm>
            <a:off x="2576055" y="2212706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agents work in parallel, results aggregated</a:t>
            </a:r>
            <a:endParaRPr lang="en-US" sz="9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F6F6909-3FC5-340E-9CC0-F7A9142E8BB6}"/>
              </a:ext>
            </a:extLst>
          </p:cNvPr>
          <p:cNvSpPr/>
          <p:nvPr/>
        </p:nvSpPr>
        <p:spPr>
          <a:xfrm>
            <a:off x="4679175" y="1161146"/>
            <a:ext cx="20116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3BDC7486-58F6-F23E-42C6-19A81DBD1CD9}"/>
              </a:ext>
            </a:extLst>
          </p:cNvPr>
          <p:cNvSpPr/>
          <p:nvPr/>
        </p:nvSpPr>
        <p:spPr>
          <a:xfrm>
            <a:off x="4679175" y="1161146"/>
            <a:ext cx="2011680" cy="73152"/>
          </a:xfrm>
          <a:prstGeom prst="rect">
            <a:avLst/>
          </a:prstGeom>
          <a:solidFill>
            <a:srgbClr val="FF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7201A62-CF0D-5711-9C3B-43B6073B0531}"/>
              </a:ext>
            </a:extLst>
          </p:cNvPr>
          <p:cNvSpPr/>
          <p:nvPr/>
        </p:nvSpPr>
        <p:spPr>
          <a:xfrm>
            <a:off x="4770615" y="129830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Handoff</a:t>
            </a:r>
            <a:endParaRPr lang="en-US" sz="14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B9AEF09D-5DB3-033D-3B5A-B1A0782C7E7A}"/>
              </a:ext>
            </a:extLst>
          </p:cNvPr>
          <p:cNvSpPr/>
          <p:nvPr/>
        </p:nvSpPr>
        <p:spPr>
          <a:xfrm>
            <a:off x="4770615" y="166406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B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⇄ B ⇄ C</a:t>
            </a:r>
            <a:endParaRPr lang="en-US" sz="10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4832582F-4478-374C-D542-CD42EFB77EE9}"/>
              </a:ext>
            </a:extLst>
          </p:cNvPr>
          <p:cNvSpPr/>
          <p:nvPr/>
        </p:nvSpPr>
        <p:spPr>
          <a:xfrm>
            <a:off x="4770615" y="2212706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Responsibility shifts between agents based on context</a:t>
            </a:r>
            <a:endParaRPr lang="en-US" sz="9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51DC51EE-F95D-BAA3-D44D-D8965F1B718B}"/>
              </a:ext>
            </a:extLst>
          </p:cNvPr>
          <p:cNvSpPr/>
          <p:nvPr/>
        </p:nvSpPr>
        <p:spPr>
          <a:xfrm>
            <a:off x="6873735" y="1161146"/>
            <a:ext cx="20116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4B47CC7F-7ABD-A4CD-CF33-093A67780FFD}"/>
              </a:ext>
            </a:extLst>
          </p:cNvPr>
          <p:cNvSpPr/>
          <p:nvPr/>
        </p:nvSpPr>
        <p:spPr>
          <a:xfrm>
            <a:off x="6873735" y="1161146"/>
            <a:ext cx="2011680" cy="73152"/>
          </a:xfrm>
          <a:prstGeom prst="rect">
            <a:avLst/>
          </a:prstGeom>
          <a:solidFill>
            <a:srgbClr val="F250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A9F7327-74E2-48AB-40C0-A668D7471218}"/>
              </a:ext>
            </a:extLst>
          </p:cNvPr>
          <p:cNvSpPr/>
          <p:nvPr/>
        </p:nvSpPr>
        <p:spPr>
          <a:xfrm>
            <a:off x="6965175" y="129830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GroupChat</a:t>
            </a:r>
            <a:endParaRPr lang="en-US" sz="14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1B8C864-868B-0989-3FA1-8A558D46F98C}"/>
              </a:ext>
            </a:extLst>
          </p:cNvPr>
          <p:cNvSpPr/>
          <p:nvPr/>
        </p:nvSpPr>
        <p:spPr>
          <a:xfrm>
            <a:off x="6965175" y="166406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250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[A B C] ↔ Chat</a:t>
            </a:r>
            <a:endParaRPr lang="en-US" sz="1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783F67E-2D12-C2F1-194F-1DA8D3331BFA}"/>
              </a:ext>
            </a:extLst>
          </p:cNvPr>
          <p:cNvSpPr/>
          <p:nvPr/>
        </p:nvSpPr>
        <p:spPr>
          <a:xfrm>
            <a:off x="6965175" y="2212706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collaborate in shared conversational space</a:t>
            </a:r>
            <a:endParaRPr lang="en-US" sz="9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325927E2-E5B5-21F0-7816-53102DC6E145}"/>
              </a:ext>
            </a:extLst>
          </p:cNvPr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 more: https://</a:t>
            </a:r>
            <a:r>
              <a:rPr lang="en-US" sz="900" i="1" dirty="0" err="1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learn.microsoft.com</a:t>
            </a:r>
            <a:r>
              <a:rPr lang="en-US" sz="9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</a:t>
            </a:r>
            <a:r>
              <a:rPr lang="en-US" sz="900" i="1" dirty="0" err="1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</a:t>
            </a:r>
            <a:r>
              <a:rPr lang="en-US" sz="9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-us/agent-framework/user-guide/workflows/orchestrations</a:t>
            </a:r>
            <a:endParaRPr lang="en-US" sz="900" dirty="0"/>
          </a:p>
        </p:txBody>
      </p:sp>
      <p:sp>
        <p:nvSpPr>
          <p:cNvPr id="42" name="Shape 22">
            <a:extLst>
              <a:ext uri="{FF2B5EF4-FFF2-40B4-BE49-F238E27FC236}">
                <a16:creationId xmlns:a16="http://schemas.microsoft.com/office/drawing/2014/main" id="{001E06F2-9713-6E63-9F89-FB9C6D77C4DA}"/>
              </a:ext>
            </a:extLst>
          </p:cNvPr>
          <p:cNvSpPr/>
          <p:nvPr/>
        </p:nvSpPr>
        <p:spPr>
          <a:xfrm>
            <a:off x="457200" y="3200400"/>
            <a:ext cx="8229600" cy="1463040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43" name="Text 23">
            <a:extLst>
              <a:ext uri="{FF2B5EF4-FFF2-40B4-BE49-F238E27FC236}">
                <a16:creationId xmlns:a16="http://schemas.microsoft.com/office/drawing/2014/main" id="{64E53A5E-A421-9EF4-96BB-C70F4D6950F3}"/>
              </a:ext>
            </a:extLst>
          </p:cNvPr>
          <p:cNvSpPr/>
          <p:nvPr/>
        </p:nvSpPr>
        <p:spPr>
          <a:xfrm>
            <a:off x="594360" y="3291840"/>
            <a:ext cx="7955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(</a:t>
            </a:r>
          </a:p>
          <a:p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dirty="0" err="1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WorkflowBuilder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</a:p>
          <a:p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200" dirty="0" err="1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set_start_executor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 err="1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agent_a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</a:p>
          <a:p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200" dirty="0" err="1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add_edge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 err="1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agent_a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200" dirty="0" err="1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agent_b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</a:p>
          <a:p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200" dirty="0" err="1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add_edge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 err="1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agent_b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aggregator)</a:t>
            </a:r>
          </a:p>
          <a:p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.build()</a:t>
            </a:r>
          </a:p>
          <a:p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0902439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188720" y="3657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1: Agent Framework Basics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5029200" cy="32918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1234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You'll Build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Create an Agent with custom instructions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Bind tools (Code Interpreter + custom function)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Create a Thread and add messages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Execute a Run and handle tool calls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Retrieve and display the response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760720" y="1097280"/>
            <a:ext cx="2926080" cy="22860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5943600" y="17830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Prerequisites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943600" y="21945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subscription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Foundry project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3.10+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azure-ai-projects SDK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4480560"/>
            <a:ext cx="8229600" cy="457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640080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⏱ 15 minutes  |  Open: lab1-agent-basics.ipynb</a:t>
            </a:r>
            <a:endParaRPr lang="en-US" sz="1400" dirty="0"/>
          </a:p>
        </p:txBody>
      </p:sp>
      <p:pic>
        <p:nvPicPr>
          <p:cNvPr id="14" name="Graphic 13" descr="Beaker with solid fill">
            <a:extLst>
              <a:ext uri="{FF2B5EF4-FFF2-40B4-BE49-F238E27FC236}">
                <a16:creationId xmlns:a16="http://schemas.microsoft.com/office/drawing/2014/main" id="{E0FB973F-BC01-99C7-F378-2AA045A059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6028" y="307428"/>
            <a:ext cx="652692" cy="652692"/>
          </a:xfrm>
          <a:prstGeom prst="rect">
            <a:avLst/>
          </a:prstGeom>
        </p:spPr>
      </p:pic>
      <p:pic>
        <p:nvPicPr>
          <p:cNvPr id="15" name="Picture 14" descr="Microsoft Azure Logo, symbol, meaning, history, PNG, brand">
            <a:extLst>
              <a:ext uri="{FF2B5EF4-FFF2-40B4-BE49-F238E27FC236}">
                <a16:creationId xmlns:a16="http://schemas.microsoft.com/office/drawing/2014/main" id="{45540A00-63B7-5B3A-DFF9-0C088D92EE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3299" y="1252371"/>
            <a:ext cx="780922" cy="43926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7A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1097280" y="320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 Tooling for Agent Framework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188720"/>
            <a:ext cx="393192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188720"/>
            <a:ext cx="73152" cy="21945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25880"/>
            <a:ext cx="457200" cy="4572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3444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DevUI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685800" y="187452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 debugging for agent workflows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Chain-of-thought visualization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state monitoring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OpenAI-compatible API backend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devui ./agents --port 8080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754880" y="1188720"/>
            <a:ext cx="393192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754880" y="1188720"/>
            <a:ext cx="73152" cy="2194560"/>
          </a:xfrm>
          <a:prstGeom prst="rect">
            <a:avLst/>
          </a:prstGeom>
          <a:solidFill>
            <a:srgbClr val="007A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/>
          <p:nvPr/>
        </p:nvSpPr>
        <p:spPr>
          <a:xfrm>
            <a:off x="553212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VS Code AI Toolkit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4983480" y="187452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Builder with graph visualizer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engineering workspace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Code Gen (Agent Framework default)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YAML → Code conversion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 integration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520440"/>
            <a:ext cx="8229600" cy="1143000"/>
          </a:xfrm>
          <a:prstGeom prst="rect">
            <a:avLst/>
          </a:prstGeom>
          <a:solidFill>
            <a:srgbClr val="E8E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/>
          <p:nvPr/>
        </p:nvSpPr>
        <p:spPr>
          <a:xfrm>
            <a:off x="640080" y="3611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Enhanced Tooling for Agentic Development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DevUI for visual debugging  +  AI Toolkit for rapid prototyping  +  OpenTelemetry for production observability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57200" y="4892040"/>
            <a:ext cx="365760" cy="73152"/>
          </a:xfrm>
          <a:prstGeom prst="rect">
            <a:avLst/>
          </a:prstGeom>
          <a:solidFill>
            <a:srgbClr val="F250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822960" y="4892040"/>
            <a:ext cx="365760" cy="73152"/>
          </a:xfrm>
          <a:prstGeom prst="rect">
            <a:avLst/>
          </a:prstGeom>
          <a:solidFill>
            <a:srgbClr val="7FB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1188720" y="4892040"/>
            <a:ext cx="365760" cy="73152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1554480" y="4892040"/>
            <a:ext cx="365760" cy="73152"/>
          </a:xfrm>
          <a:prstGeom prst="rect">
            <a:avLst/>
          </a:prstGeom>
          <a:solidFill>
            <a:srgbClr val="FF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493776" y="46634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 more: learn.microsoft.com/agent-framework/user-guide/devui</a:t>
            </a:r>
            <a:endParaRPr lang="en-US" sz="900" dirty="0"/>
          </a:p>
        </p:txBody>
      </p:sp>
      <p:pic>
        <p:nvPicPr>
          <p:cNvPr id="23" name="Picture 22" descr="vscode Vector Icons free download in SVG, PNG Format">
            <a:extLst>
              <a:ext uri="{FF2B5EF4-FFF2-40B4-BE49-F238E27FC236}">
                <a16:creationId xmlns:a16="http://schemas.microsoft.com/office/drawing/2014/main" id="{218A5A9F-20FC-C814-E4AB-7EBB2105A7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124" y="145905"/>
            <a:ext cx="879911" cy="879911"/>
          </a:xfrm>
          <a:prstGeom prst="rect">
            <a:avLst/>
          </a:prstGeom>
        </p:spPr>
      </p:pic>
      <p:pic>
        <p:nvPicPr>
          <p:cNvPr id="24" name="Picture 23" descr="vscode Vector Icons free download in SVG, PNG Format">
            <a:extLst>
              <a:ext uri="{FF2B5EF4-FFF2-40B4-BE49-F238E27FC236}">
                <a16:creationId xmlns:a16="http://schemas.microsoft.com/office/drawing/2014/main" id="{EAA6A2E5-8C63-90DD-A5D6-3B92C09FC0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244" y="1255996"/>
            <a:ext cx="595664" cy="5956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92619-C1E1-40C6-DBFD-FC8744958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E7BB48B-7ABB-86ED-BF15-D87E39BFB4A5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7A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E8518DE3-FAC8-EBC4-FB95-83003A6CE1E5}"/>
              </a:ext>
            </a:extLst>
          </p:cNvPr>
          <p:cNvSpPr/>
          <p:nvPr/>
        </p:nvSpPr>
        <p:spPr>
          <a:xfrm>
            <a:off x="1097280" y="320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 Tooling for Agent Framework</a:t>
            </a:r>
            <a:endParaRPr lang="en-US" sz="260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5D3E5851-50EC-6E44-5303-87FB03B73109}"/>
              </a:ext>
            </a:extLst>
          </p:cNvPr>
          <p:cNvSpPr/>
          <p:nvPr/>
        </p:nvSpPr>
        <p:spPr>
          <a:xfrm>
            <a:off x="457200" y="1188720"/>
            <a:ext cx="393192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D46CC75F-93C1-9DC0-404A-73F47254C05E}"/>
              </a:ext>
            </a:extLst>
          </p:cNvPr>
          <p:cNvSpPr/>
          <p:nvPr/>
        </p:nvSpPr>
        <p:spPr>
          <a:xfrm>
            <a:off x="457200" y="1188720"/>
            <a:ext cx="73152" cy="21945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>
            <a:extLst>
              <a:ext uri="{FF2B5EF4-FFF2-40B4-BE49-F238E27FC236}">
                <a16:creationId xmlns:a16="http://schemas.microsoft.com/office/drawing/2014/main" id="{E6B3C4A7-A5DC-8D68-6590-3F51F842D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25880"/>
            <a:ext cx="457200" cy="457200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F560450E-0741-7662-D2B6-7FA3222A7361}"/>
              </a:ext>
            </a:extLst>
          </p:cNvPr>
          <p:cNvSpPr/>
          <p:nvPr/>
        </p:nvSpPr>
        <p:spPr>
          <a:xfrm>
            <a:off x="123444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DevUI</a:t>
            </a:r>
            <a:endParaRPr lang="en-US" sz="18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A7BB40C-283B-21A0-801B-A4381C4ACA8B}"/>
              </a:ext>
            </a:extLst>
          </p:cNvPr>
          <p:cNvSpPr/>
          <p:nvPr/>
        </p:nvSpPr>
        <p:spPr>
          <a:xfrm>
            <a:off x="685800" y="187452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 debugging for agent workflows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Chain-of-thought visualization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state monitoring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OpenAI-compatible API backend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devui ./agents --port 8080</a:t>
            </a:r>
            <a:endParaRPr lang="en-US" sz="110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02104422-2DF5-6C5A-8633-27391E21EA4A}"/>
              </a:ext>
            </a:extLst>
          </p:cNvPr>
          <p:cNvSpPr/>
          <p:nvPr/>
        </p:nvSpPr>
        <p:spPr>
          <a:xfrm>
            <a:off x="4754880" y="1188720"/>
            <a:ext cx="393192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8D3146D6-12F6-6A27-C7B4-74C22DEC6A5B}"/>
              </a:ext>
            </a:extLst>
          </p:cNvPr>
          <p:cNvSpPr/>
          <p:nvPr/>
        </p:nvSpPr>
        <p:spPr>
          <a:xfrm>
            <a:off x="4754880" y="1188720"/>
            <a:ext cx="73152" cy="2194560"/>
          </a:xfrm>
          <a:prstGeom prst="rect">
            <a:avLst/>
          </a:prstGeom>
          <a:solidFill>
            <a:srgbClr val="007A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7F9D3FB8-E8F4-7268-5157-B483583860D3}"/>
              </a:ext>
            </a:extLst>
          </p:cNvPr>
          <p:cNvSpPr/>
          <p:nvPr/>
        </p:nvSpPr>
        <p:spPr>
          <a:xfrm>
            <a:off x="553212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VS Code AI Toolkit</a:t>
            </a:r>
            <a:endParaRPr lang="en-US" sz="1800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4DA7D0ED-B683-FAF5-07E0-FC35F79C70F5}"/>
              </a:ext>
            </a:extLst>
          </p:cNvPr>
          <p:cNvSpPr/>
          <p:nvPr/>
        </p:nvSpPr>
        <p:spPr>
          <a:xfrm>
            <a:off x="4983480" y="187452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Builder with graph visualizer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engineering workspace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Code Gen (Agent Framework default)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YAML → Code conversion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 integration</a:t>
            </a:r>
            <a:endParaRPr lang="en-US" sz="1100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817E2AAE-0526-0441-BE82-415B5FE162AE}"/>
              </a:ext>
            </a:extLst>
          </p:cNvPr>
          <p:cNvSpPr/>
          <p:nvPr/>
        </p:nvSpPr>
        <p:spPr>
          <a:xfrm>
            <a:off x="457200" y="3520440"/>
            <a:ext cx="8229600" cy="1143000"/>
          </a:xfrm>
          <a:prstGeom prst="rect">
            <a:avLst/>
          </a:prstGeom>
          <a:solidFill>
            <a:srgbClr val="E8E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4B197981-AA27-E328-B554-9D17C684F3B0}"/>
              </a:ext>
            </a:extLst>
          </p:cNvPr>
          <p:cNvSpPr/>
          <p:nvPr/>
        </p:nvSpPr>
        <p:spPr>
          <a:xfrm>
            <a:off x="640080" y="3611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Enhanced Tooling for Agentic Development</a:t>
            </a:r>
            <a:endParaRPr lang="en-US" sz="1400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66995300-798D-86F9-23AC-D7DC2354A3B2}"/>
              </a:ext>
            </a:extLst>
          </p:cNvPr>
          <p:cNvSpPr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DevUI for visual debugging  +  AI Toolkit for rapid prototyping  +  OpenTelemetry for production observability</a:t>
            </a:r>
            <a:endParaRPr lang="en-US" sz="1200" dirty="0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129812BF-C0F9-9F7E-A35E-B474AB8760F7}"/>
              </a:ext>
            </a:extLst>
          </p:cNvPr>
          <p:cNvSpPr/>
          <p:nvPr/>
        </p:nvSpPr>
        <p:spPr>
          <a:xfrm>
            <a:off x="457200" y="4892040"/>
            <a:ext cx="365760" cy="73152"/>
          </a:xfrm>
          <a:prstGeom prst="rect">
            <a:avLst/>
          </a:prstGeom>
          <a:solidFill>
            <a:srgbClr val="F250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4AAC837F-00D8-9708-2D57-03ED937FDFB4}"/>
              </a:ext>
            </a:extLst>
          </p:cNvPr>
          <p:cNvSpPr/>
          <p:nvPr/>
        </p:nvSpPr>
        <p:spPr>
          <a:xfrm>
            <a:off x="822960" y="4892040"/>
            <a:ext cx="365760" cy="73152"/>
          </a:xfrm>
          <a:prstGeom prst="rect">
            <a:avLst/>
          </a:prstGeom>
          <a:solidFill>
            <a:srgbClr val="7FB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26813DB7-488B-F4CA-665F-DCB64D3BFFD4}"/>
              </a:ext>
            </a:extLst>
          </p:cNvPr>
          <p:cNvSpPr/>
          <p:nvPr/>
        </p:nvSpPr>
        <p:spPr>
          <a:xfrm>
            <a:off x="1188720" y="4892040"/>
            <a:ext cx="365760" cy="73152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E3529CF-0B5F-7327-9D2B-D85BB4C06862}"/>
              </a:ext>
            </a:extLst>
          </p:cNvPr>
          <p:cNvSpPr/>
          <p:nvPr/>
        </p:nvSpPr>
        <p:spPr>
          <a:xfrm>
            <a:off x="1554480" y="4892040"/>
            <a:ext cx="365760" cy="73152"/>
          </a:xfrm>
          <a:prstGeom prst="rect">
            <a:avLst/>
          </a:prstGeom>
          <a:solidFill>
            <a:srgbClr val="FF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F0CBD4FD-85B0-967B-05D9-E410CAC39F68}"/>
              </a:ext>
            </a:extLst>
          </p:cNvPr>
          <p:cNvSpPr/>
          <p:nvPr/>
        </p:nvSpPr>
        <p:spPr>
          <a:xfrm>
            <a:off x="493776" y="46634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 more: learn.microsoft.com/agent-framework/user-guide/devui</a:t>
            </a:r>
            <a:endParaRPr lang="en-US" sz="900" dirty="0"/>
          </a:p>
        </p:txBody>
      </p:sp>
      <p:pic>
        <p:nvPicPr>
          <p:cNvPr id="23" name="Picture 22" descr="vscode Vector Icons free download in SVG, PNG Format">
            <a:extLst>
              <a:ext uri="{FF2B5EF4-FFF2-40B4-BE49-F238E27FC236}">
                <a16:creationId xmlns:a16="http://schemas.microsoft.com/office/drawing/2014/main" id="{F20D1FBE-4D35-46FE-7AC6-89A2D2888D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124" y="145905"/>
            <a:ext cx="879911" cy="879911"/>
          </a:xfrm>
          <a:prstGeom prst="rect">
            <a:avLst/>
          </a:prstGeom>
        </p:spPr>
      </p:pic>
      <p:pic>
        <p:nvPicPr>
          <p:cNvPr id="24" name="Picture 23" descr="vscode Vector Icons free download in SVG, PNG Format">
            <a:extLst>
              <a:ext uri="{FF2B5EF4-FFF2-40B4-BE49-F238E27FC236}">
                <a16:creationId xmlns:a16="http://schemas.microsoft.com/office/drawing/2014/main" id="{1F6863F3-9FBC-9907-B17E-B96E4807B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244" y="1255996"/>
            <a:ext cx="595664" cy="595664"/>
          </a:xfrm>
          <a:prstGeom prst="rect">
            <a:avLst/>
          </a:prstGeom>
        </p:spPr>
      </p:pic>
      <p:pic>
        <p:nvPicPr>
          <p:cNvPr id="3" name="Picture 2" descr="DevUI">
            <a:extLst>
              <a:ext uri="{FF2B5EF4-FFF2-40B4-BE49-F238E27FC236}">
                <a16:creationId xmlns:a16="http://schemas.microsoft.com/office/drawing/2014/main" id="{EAA1A8E0-52CC-D9FE-965C-66C91A49D5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03752"/>
            <a:ext cx="7772400" cy="473599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239489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F2C6E-405C-14C3-C31D-48005C40C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3A7B738-6823-B922-E948-74A9140970A1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7A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1A5AE653-68E2-70E3-4196-8EF4F3A743AE}"/>
              </a:ext>
            </a:extLst>
          </p:cNvPr>
          <p:cNvSpPr/>
          <p:nvPr/>
        </p:nvSpPr>
        <p:spPr>
          <a:xfrm>
            <a:off x="1097280" y="320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 Tooling for Agent Framework</a:t>
            </a:r>
            <a:endParaRPr lang="en-US" sz="260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A1BE3E22-116F-CF8D-3EDB-371340210C24}"/>
              </a:ext>
            </a:extLst>
          </p:cNvPr>
          <p:cNvSpPr/>
          <p:nvPr/>
        </p:nvSpPr>
        <p:spPr>
          <a:xfrm>
            <a:off x="457200" y="1188720"/>
            <a:ext cx="393192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7C51D218-F51C-E0FA-15FC-872746ADB5F5}"/>
              </a:ext>
            </a:extLst>
          </p:cNvPr>
          <p:cNvSpPr/>
          <p:nvPr/>
        </p:nvSpPr>
        <p:spPr>
          <a:xfrm>
            <a:off x="457200" y="1188720"/>
            <a:ext cx="73152" cy="21945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>
            <a:extLst>
              <a:ext uri="{FF2B5EF4-FFF2-40B4-BE49-F238E27FC236}">
                <a16:creationId xmlns:a16="http://schemas.microsoft.com/office/drawing/2014/main" id="{8A1C30EB-1F73-9C8C-2722-3CC39508E3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25880"/>
            <a:ext cx="457200" cy="457200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0B5A336A-896F-123F-85F1-7DE8C452180F}"/>
              </a:ext>
            </a:extLst>
          </p:cNvPr>
          <p:cNvSpPr/>
          <p:nvPr/>
        </p:nvSpPr>
        <p:spPr>
          <a:xfrm>
            <a:off x="123444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DevUI</a:t>
            </a:r>
            <a:endParaRPr lang="en-US" sz="18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89D020F-1835-3CEF-A2FB-B5356EDB935E}"/>
              </a:ext>
            </a:extLst>
          </p:cNvPr>
          <p:cNvSpPr/>
          <p:nvPr/>
        </p:nvSpPr>
        <p:spPr>
          <a:xfrm>
            <a:off x="685800" y="187452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 debugging for agent workflows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Chain-of-thought visualization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state monitoring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OpenAI-compatible API backend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devui ./agents --port 8080</a:t>
            </a:r>
            <a:endParaRPr lang="en-US" sz="110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766C436C-DCD2-DA80-3734-601C288A09E6}"/>
              </a:ext>
            </a:extLst>
          </p:cNvPr>
          <p:cNvSpPr/>
          <p:nvPr/>
        </p:nvSpPr>
        <p:spPr>
          <a:xfrm>
            <a:off x="4754880" y="1188720"/>
            <a:ext cx="393192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72B6BA38-B785-33AA-2AEF-BAF7DE1ED0DC}"/>
              </a:ext>
            </a:extLst>
          </p:cNvPr>
          <p:cNvSpPr/>
          <p:nvPr/>
        </p:nvSpPr>
        <p:spPr>
          <a:xfrm>
            <a:off x="4754880" y="1188720"/>
            <a:ext cx="73152" cy="2194560"/>
          </a:xfrm>
          <a:prstGeom prst="rect">
            <a:avLst/>
          </a:prstGeom>
          <a:solidFill>
            <a:srgbClr val="007A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E4335EB5-4D26-D052-1094-286AE6E27677}"/>
              </a:ext>
            </a:extLst>
          </p:cNvPr>
          <p:cNvSpPr/>
          <p:nvPr/>
        </p:nvSpPr>
        <p:spPr>
          <a:xfrm>
            <a:off x="553212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VS Code AI Toolkit</a:t>
            </a:r>
            <a:endParaRPr lang="en-US" sz="1800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01B434B5-2E79-6290-E4AF-EE1B5A4136A4}"/>
              </a:ext>
            </a:extLst>
          </p:cNvPr>
          <p:cNvSpPr/>
          <p:nvPr/>
        </p:nvSpPr>
        <p:spPr>
          <a:xfrm>
            <a:off x="4983480" y="187452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Builder with graph visualizer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engineering workspace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Code Gen (Agent Framework default)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YAML → Code conversion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 integration</a:t>
            </a:r>
            <a:endParaRPr lang="en-US" sz="1100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A2E02806-95A3-A82C-E278-65D17E6E6E79}"/>
              </a:ext>
            </a:extLst>
          </p:cNvPr>
          <p:cNvSpPr/>
          <p:nvPr/>
        </p:nvSpPr>
        <p:spPr>
          <a:xfrm>
            <a:off x="457200" y="3520440"/>
            <a:ext cx="8229600" cy="1143000"/>
          </a:xfrm>
          <a:prstGeom prst="rect">
            <a:avLst/>
          </a:prstGeom>
          <a:solidFill>
            <a:srgbClr val="E8E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EB6B696C-7242-54D1-20DE-D767C5F71D14}"/>
              </a:ext>
            </a:extLst>
          </p:cNvPr>
          <p:cNvSpPr/>
          <p:nvPr/>
        </p:nvSpPr>
        <p:spPr>
          <a:xfrm>
            <a:off x="640080" y="3611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Enhanced Tooling for Agentic Development</a:t>
            </a:r>
            <a:endParaRPr lang="en-US" sz="1400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897AB59A-84C1-DF0E-C138-683C2756A6D4}"/>
              </a:ext>
            </a:extLst>
          </p:cNvPr>
          <p:cNvSpPr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DevUI for visual debugging  +  AI Toolkit for rapid prototyping  +  OpenTelemetry for production observability</a:t>
            </a:r>
            <a:endParaRPr lang="en-US" sz="1200" dirty="0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F3A42078-46F3-F0A0-8037-436B393AA92E}"/>
              </a:ext>
            </a:extLst>
          </p:cNvPr>
          <p:cNvSpPr/>
          <p:nvPr/>
        </p:nvSpPr>
        <p:spPr>
          <a:xfrm>
            <a:off x="457200" y="4892040"/>
            <a:ext cx="365760" cy="73152"/>
          </a:xfrm>
          <a:prstGeom prst="rect">
            <a:avLst/>
          </a:prstGeom>
          <a:solidFill>
            <a:srgbClr val="F250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0E9254B8-44B7-C0FB-BE1B-0BE693E187D2}"/>
              </a:ext>
            </a:extLst>
          </p:cNvPr>
          <p:cNvSpPr/>
          <p:nvPr/>
        </p:nvSpPr>
        <p:spPr>
          <a:xfrm>
            <a:off x="822960" y="4892040"/>
            <a:ext cx="365760" cy="73152"/>
          </a:xfrm>
          <a:prstGeom prst="rect">
            <a:avLst/>
          </a:prstGeom>
          <a:solidFill>
            <a:srgbClr val="7FB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7E3B1DC1-68AE-AFE4-595C-87C3FF5B9961}"/>
              </a:ext>
            </a:extLst>
          </p:cNvPr>
          <p:cNvSpPr/>
          <p:nvPr/>
        </p:nvSpPr>
        <p:spPr>
          <a:xfrm>
            <a:off x="1188720" y="4892040"/>
            <a:ext cx="365760" cy="73152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11209D18-1C72-9EFF-9D63-87727FB3FE03}"/>
              </a:ext>
            </a:extLst>
          </p:cNvPr>
          <p:cNvSpPr/>
          <p:nvPr/>
        </p:nvSpPr>
        <p:spPr>
          <a:xfrm>
            <a:off x="1554480" y="4892040"/>
            <a:ext cx="365760" cy="73152"/>
          </a:xfrm>
          <a:prstGeom prst="rect">
            <a:avLst/>
          </a:prstGeom>
          <a:solidFill>
            <a:srgbClr val="FF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36D60A1F-A6EF-D316-15D9-00C3EC499B0E}"/>
              </a:ext>
            </a:extLst>
          </p:cNvPr>
          <p:cNvSpPr/>
          <p:nvPr/>
        </p:nvSpPr>
        <p:spPr>
          <a:xfrm>
            <a:off x="493776" y="46634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 more: learn.microsoft.com/agent-framework/user-guide/devui</a:t>
            </a:r>
            <a:endParaRPr lang="en-US" sz="900" dirty="0"/>
          </a:p>
        </p:txBody>
      </p:sp>
      <p:pic>
        <p:nvPicPr>
          <p:cNvPr id="23" name="Picture 22" descr="vscode Vector Icons free download in SVG, PNG Format">
            <a:extLst>
              <a:ext uri="{FF2B5EF4-FFF2-40B4-BE49-F238E27FC236}">
                <a16:creationId xmlns:a16="http://schemas.microsoft.com/office/drawing/2014/main" id="{2ACB2CD3-B9F3-F02A-14CB-8E3AA73CFE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124" y="145905"/>
            <a:ext cx="879911" cy="879911"/>
          </a:xfrm>
          <a:prstGeom prst="rect">
            <a:avLst/>
          </a:prstGeom>
        </p:spPr>
      </p:pic>
      <p:pic>
        <p:nvPicPr>
          <p:cNvPr id="24" name="Picture 23" descr="vscode Vector Icons free download in SVG, PNG Format">
            <a:extLst>
              <a:ext uri="{FF2B5EF4-FFF2-40B4-BE49-F238E27FC236}">
                <a16:creationId xmlns:a16="http://schemas.microsoft.com/office/drawing/2014/main" id="{155CF1EC-BBFE-4E25-3658-B376057E3D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244" y="1255996"/>
            <a:ext cx="595664" cy="595664"/>
          </a:xfrm>
          <a:prstGeom prst="rect">
            <a:avLst/>
          </a:prstGeom>
        </p:spPr>
      </p:pic>
      <p:pic>
        <p:nvPicPr>
          <p:cNvPr id="3" name="Picture 2" descr="connect to MCP server">
            <a:extLst>
              <a:ext uri="{FF2B5EF4-FFF2-40B4-BE49-F238E27FC236}">
                <a16:creationId xmlns:a16="http://schemas.microsoft.com/office/drawing/2014/main" id="{D38B701B-F29A-8139-96D7-C664554D2A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2010"/>
            <a:ext cx="7772400" cy="505947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883004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188720" y="3657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Copilot: Agent Framework Prompts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specialized prompts to accelerate migration and development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417320"/>
            <a:ext cx="8229600" cy="23774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43000" y="1600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Kernel → Agent Framework Migration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640080" y="201168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Key Transformations: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ChatCompletionAgent    →  ChatClientAgent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OpenAIAssistantAgent   →  AIAgent (via extensions)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InvokeAsync()          →  RunAsync()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[KernelFunction]       →  AIFunctionFactory.Create()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Example: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Before (Semantic Kernel)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agent = await kernel.GetRequiredService&lt;ChatCompletionAgent&gt;();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msg in agent.InvokeAsync(thread)) { ... 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After (Agent Framework)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agent = client.GetChatClient(model).CreateAIAgent();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response = await agent.RunAsync(thread);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1188720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with Copilot Chat: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1188720" y="4251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github.com/microsoft/agent-framework/.github/upgrades/prompts/SemanticKernelToAgentFramework.md</a:t>
            </a:r>
            <a:endParaRPr lang="en-US" sz="900" dirty="0"/>
          </a:p>
        </p:txBody>
      </p:sp>
      <p:pic>
        <p:nvPicPr>
          <p:cNvPr id="14" name="Picture 13" descr="GitHub Copilot - Visual Studio Marketplace">
            <a:extLst>
              <a:ext uri="{FF2B5EF4-FFF2-40B4-BE49-F238E27FC236}">
                <a16:creationId xmlns:a16="http://schemas.microsoft.com/office/drawing/2014/main" id="{E9E40FAA-FA3E-1560-EC41-F969EDCADE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399875" y="285575"/>
            <a:ext cx="697405" cy="697405"/>
          </a:xfrm>
          <a:prstGeom prst="rect">
            <a:avLst/>
          </a:prstGeom>
        </p:spPr>
      </p:pic>
      <p:pic>
        <p:nvPicPr>
          <p:cNvPr id="16" name="Graphic 15" descr="Badge New with solid fill">
            <a:extLst>
              <a:ext uri="{FF2B5EF4-FFF2-40B4-BE49-F238E27FC236}">
                <a16:creationId xmlns:a16="http://schemas.microsoft.com/office/drawing/2014/main" id="{BE47F6E6-B456-7229-F159-693DFB2BC8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8640" y="3977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"/>
            <a:ext cx="9144000" cy="1005840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1097280" y="320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AG-UI: Agent-User Interaction Protocol</a:t>
            </a:r>
            <a:endParaRPr lang="en-US" sz="26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3000"/>
            <a:ext cx="5486400" cy="27432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126480" y="114300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Shape 3"/>
          <p:cNvSpPr/>
          <p:nvPr/>
        </p:nvSpPr>
        <p:spPr>
          <a:xfrm>
            <a:off x="6126480" y="1143000"/>
            <a:ext cx="73152" cy="2743200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630936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Features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309359" y="1577340"/>
            <a:ext cx="2194561" cy="2125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cs typeface="Segoe UI" pitchFamily="34" charset="-120"/>
              </a:rPr>
              <a:t>Agentic Orchestration Surface for Humans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Transparency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Human-in-the-Loop Control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 + Memory Visualization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Bridges Agents to Enterprise Workflows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57200" y="4023360"/>
            <a:ext cx="8229600" cy="685800"/>
          </a:xfrm>
          <a:prstGeom prst="rect">
            <a:avLst/>
          </a:prstGeom>
          <a:solidFill>
            <a:srgbClr val="1F29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640080" y="411480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Types:  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1828800" y="4160520"/>
            <a:ext cx="1051560" cy="4114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1828800" y="416052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RUN_START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2926080" y="4160520"/>
            <a:ext cx="1051560" cy="411480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2926080" y="416052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TEXT_DELTA</a:t>
            </a:r>
            <a:endParaRPr lang="en-US" sz="700" dirty="0"/>
          </a:p>
        </p:txBody>
      </p:sp>
      <p:sp>
        <p:nvSpPr>
          <p:cNvPr id="16" name="Shape 12"/>
          <p:cNvSpPr/>
          <p:nvPr/>
        </p:nvSpPr>
        <p:spPr>
          <a:xfrm>
            <a:off x="4023360" y="4160520"/>
            <a:ext cx="1051560" cy="4114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4023360" y="416052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TOOL_CALL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120640" y="4160520"/>
            <a:ext cx="1051560" cy="411480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5120640" y="416052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STATE_DELTA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6217920" y="4160520"/>
            <a:ext cx="1051560" cy="411480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6217920" y="416052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</a:t>
            </a:r>
            <a:endParaRPr lang="en-US" sz="700" dirty="0"/>
          </a:p>
        </p:txBody>
      </p:sp>
      <p:sp>
        <p:nvSpPr>
          <p:cNvPr id="22" name="Shape 18"/>
          <p:cNvSpPr/>
          <p:nvPr/>
        </p:nvSpPr>
        <p:spPr>
          <a:xfrm>
            <a:off x="7315200" y="4160520"/>
            <a:ext cx="1051560" cy="4114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7315200" y="416052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RUN_END</a:t>
            </a:r>
            <a:endParaRPr lang="en-US" sz="700" dirty="0"/>
          </a:p>
        </p:txBody>
      </p:sp>
      <p:sp>
        <p:nvSpPr>
          <p:cNvPr id="24" name="Text 2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 more: docs.ag-ui.com  |  github.com/ag-ui-protocol/ag-</a:t>
            </a:r>
            <a:r>
              <a:rPr lang="en-US" sz="900" i="1" dirty="0" err="1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</a:t>
            </a:r>
            <a:r>
              <a:rPr lang="en-US" sz="9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|  </a:t>
            </a:r>
            <a:r>
              <a:rPr lang="en-US" sz="900" i="1" dirty="0" err="1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dojo.ag-ui.com</a:t>
            </a:r>
            <a:endParaRPr lang="en-US" sz="900" dirty="0"/>
          </a:p>
        </p:txBody>
      </p:sp>
      <p:pic>
        <p:nvPicPr>
          <p:cNvPr id="27" name="Picture 26" descr="AG-UI Icon SVG Vector &amp; PNG Free Download | UXWing">
            <a:extLst>
              <a:ext uri="{FF2B5EF4-FFF2-40B4-BE49-F238E27FC236}">
                <a16:creationId xmlns:a16="http://schemas.microsoft.com/office/drawing/2014/main" id="{DC9D97C9-4A54-A5B4-EAC4-F2DC885FB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2860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0"/>
          </a:xfrm>
          <a:prstGeom prst="rect">
            <a:avLst/>
          </a:prstGeom>
          <a:solidFill>
            <a:srgbClr val="008B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45720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SRE Agent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 service for monitoring, diagnosing, and resolving Azure infrastructure issues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280160"/>
            <a:ext cx="2651760" cy="457200"/>
          </a:xfrm>
          <a:prstGeom prst="rect">
            <a:avLst/>
          </a:prstGeom>
          <a:solidFill>
            <a:srgbClr val="0066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4864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20K+  Engineering hours saved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46120" y="1280160"/>
            <a:ext cx="2651760" cy="457200"/>
          </a:xfrm>
          <a:prstGeom prst="rect">
            <a:avLst/>
          </a:prstGeom>
          <a:solidFill>
            <a:srgbClr val="0066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33756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24/7  Continuous monitoring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035040" y="1280160"/>
            <a:ext cx="2651760" cy="457200"/>
          </a:xfrm>
          <a:prstGeom prst="rect">
            <a:avLst/>
          </a:prstGeom>
          <a:solidFill>
            <a:srgbClr val="0066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12648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  Natural language commands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Capabilities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201168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57200" y="2423160"/>
            <a:ext cx="2011680" cy="54864"/>
          </a:xfrm>
          <a:prstGeom prst="rect">
            <a:avLst/>
          </a:prstGeom>
          <a:solidFill>
            <a:srgbClr val="F2502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6032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48640" y="3063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Anomaly Detection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548640" y="3383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ML-based continuous monitoring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2651760" y="2423160"/>
            <a:ext cx="201168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2651760" y="2423160"/>
            <a:ext cx="2011680" cy="54864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256032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2743200" y="3063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 Analysis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2743200" y="3383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Correlate logs, metrics, deployments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4846320" y="2423160"/>
            <a:ext cx="201168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846320" y="2423160"/>
            <a:ext cx="2011680" cy="54864"/>
          </a:xfrm>
          <a:prstGeom prst="rect">
            <a:avLst/>
          </a:prstGeom>
          <a:solidFill>
            <a:srgbClr val="7FBA0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56032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937760" y="3063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Code-Aware RCA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4937760" y="3383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 to GitHub/ADO source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7040880" y="2423160"/>
            <a:ext cx="201168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7040880" y="2423160"/>
            <a:ext cx="2011680" cy="54864"/>
          </a:xfrm>
          <a:prstGeom prst="rect">
            <a:avLst/>
          </a:prstGeom>
          <a:solidFill>
            <a:srgbClr val="FFB90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2560320"/>
            <a:ext cx="457200" cy="45720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132320" y="3063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Memory System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7132320" y="3383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 from past incidents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solidFill>
            <a:srgbClr val="E8E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27"/>
          <p:cNvSpPr/>
          <p:nvPr/>
        </p:nvSpPr>
        <p:spPr>
          <a:xfrm>
            <a:off x="64008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Integrations: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640080" y="4343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Monitor  •  PagerDuty  •  ServiceNow  •  GitHub  •  ADO  •  Dynatrace  •  New Relic  •  Datadog  •  Teams  •  Outlook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 more: learn.microsoft.com/azure/sre-agent/overview</a:t>
            </a:r>
            <a:endParaRPr lang="en-US" sz="900" dirty="0"/>
          </a:p>
        </p:txBody>
      </p:sp>
      <p:pic>
        <p:nvPicPr>
          <p:cNvPr id="37" name="Picture 36" descr="Microsoft Azure Logo, symbol, meaning, history, PNG, brand">
            <a:extLst>
              <a:ext uri="{FF2B5EF4-FFF2-40B4-BE49-F238E27FC236}">
                <a16:creationId xmlns:a16="http://schemas.microsoft.com/office/drawing/2014/main" id="{A51B50C6-B436-FCEF-7240-5F5203315B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0198" y="186917"/>
            <a:ext cx="780922" cy="43926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8B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1097280" y="320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SRE Agent: Memory &amp; Extensibility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Memory System: "Never Explain Context Twice"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26517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457200" y="1554480"/>
            <a:ext cx="54864" cy="777240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94360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Facts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19019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Remember preferences across conversations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91840" y="1554480"/>
            <a:ext cx="26517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291840" y="1554480"/>
            <a:ext cx="54864" cy="777240"/>
          </a:xfrm>
          <a:prstGeom prst="rect">
            <a:avLst/>
          </a:prstGeom>
          <a:solidFill>
            <a:srgbClr val="7FB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429000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Runbook Retrieval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429000" y="19019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Fetch relevant docs during troubleshooting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126480" y="1554480"/>
            <a:ext cx="26517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126480" y="1554480"/>
            <a:ext cx="54864" cy="777240"/>
          </a:xfrm>
          <a:prstGeom prst="rect">
            <a:avLst/>
          </a:prstGeom>
          <a:solidFill>
            <a:srgbClr val="FF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263640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Learning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263640" y="19019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 from past incident patterns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57200" y="2514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Extensibility Model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457200" y="2926080"/>
            <a:ext cx="822960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57200" y="2926080"/>
            <a:ext cx="73152" cy="594360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17520"/>
            <a:ext cx="411480" cy="4114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234440" y="3017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Sub-Agent Builder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1234440" y="3246120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No-code specialized agents with triggers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1"/>
          <p:cNvSpPr/>
          <p:nvPr/>
        </p:nvSpPr>
        <p:spPr>
          <a:xfrm>
            <a:off x="457200" y="3611880"/>
            <a:ext cx="73152" cy="594360"/>
          </a:xfrm>
          <a:prstGeom prst="rect">
            <a:avLst/>
          </a:prstGeom>
          <a:solidFill>
            <a:srgbClr val="7FBA0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703320"/>
            <a:ext cx="411480" cy="41148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234440" y="3703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Servers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1234440" y="3931920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Bring your own actions via remote MCP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457200" y="4297680"/>
            <a:ext cx="822960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5"/>
          <p:cNvSpPr/>
          <p:nvPr/>
        </p:nvSpPr>
        <p:spPr>
          <a:xfrm>
            <a:off x="457200" y="4297680"/>
            <a:ext cx="73152" cy="594360"/>
          </a:xfrm>
          <a:prstGeom prst="rect">
            <a:avLst/>
          </a:prstGeom>
          <a:solidFill>
            <a:srgbClr val="FFB90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389120"/>
            <a:ext cx="411480" cy="41148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234440" y="4389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Built-in Actions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1234440" y="4617720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 cli, kubectl, GitHub, Teams, Outlook</a:t>
            </a:r>
            <a:endParaRPr lang="en-US" sz="1100" dirty="0"/>
          </a:p>
        </p:txBody>
      </p:sp>
      <p:sp>
        <p:nvSpPr>
          <p:cNvPr id="38" name="Text 32"/>
          <p:cNvSpPr/>
          <p:nvPr/>
        </p:nvSpPr>
        <p:spPr>
          <a:xfrm>
            <a:off x="424411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 more: learn.microsoft.com/azure/sre-agent/subagent-builder-overview</a:t>
            </a:r>
            <a:endParaRPr lang="en-US" sz="900" dirty="0"/>
          </a:p>
        </p:txBody>
      </p:sp>
      <p:pic>
        <p:nvPicPr>
          <p:cNvPr id="39" name="Picture 38" descr="Microsoft Azure Logo, symbol, meaning, history, PNG, brand">
            <a:extLst>
              <a:ext uri="{FF2B5EF4-FFF2-40B4-BE49-F238E27FC236}">
                <a16:creationId xmlns:a16="http://schemas.microsoft.com/office/drawing/2014/main" id="{5A382CC3-7A1D-CFDA-6ED0-D452FB42E1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808" y="329005"/>
            <a:ext cx="780922" cy="43926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14300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2 &amp; 3: SRE Agent Hands-On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3931920" cy="3017520"/>
          </a:xfrm>
          <a:prstGeom prst="rect">
            <a:avLst/>
          </a:prstGeom>
          <a:solidFill>
            <a:srgbClr val="008B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2: SRE Agent Basics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Configure SRE Agent in Portal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Azure Monitor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Natural language queries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Anomaly investigation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report generation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3794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C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⏱ 10 min  |  lab2-sre-agent-basics.ipynb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54880" y="1097280"/>
            <a:ext cx="3931920" cy="301752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93776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3: Extensibility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937760" y="169164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custom sub-agent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Define triggers &amp; instructions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MCP server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notification workflow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incident automation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937760" y="3794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C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⏱ 10 min  |  lab3-sre-extensibility.ipynb</a:t>
            </a:r>
            <a:endParaRPr lang="en-US" sz="1100" dirty="0"/>
          </a:p>
        </p:txBody>
      </p:sp>
      <p:pic>
        <p:nvPicPr>
          <p:cNvPr id="12" name="Picture 11" descr="Microsoft Azure Logo, symbol, meaning, history, PNG, brand">
            <a:extLst>
              <a:ext uri="{FF2B5EF4-FFF2-40B4-BE49-F238E27FC236}">
                <a16:creationId xmlns:a16="http://schemas.microsoft.com/office/drawing/2014/main" id="{67663D88-A3A9-B860-EF3F-8A0098DB0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078" y="420445"/>
            <a:ext cx="780922" cy="43926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293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7432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200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143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94360" y="1234440"/>
            <a:ext cx="457200" cy="457200"/>
          </a:xfrm>
          <a:prstGeom prst="ellipse">
            <a:avLst/>
          </a:prstGeom>
          <a:solidFill>
            <a:srgbClr val="00A4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887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primitives (Agent, Thread, Run, Tool) abstract orchestration complexity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856232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94360" y="1947672"/>
            <a:ext cx="457200" cy="457200"/>
          </a:xfrm>
          <a:prstGeom prst="ellipse">
            <a:avLst/>
          </a:prstGeom>
          <a:solidFill>
            <a:srgbClr val="7FB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94360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94767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DevUI + AI Toolkit + OpenTelemetry form the "golden triangle" for development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2569464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594360" y="2660904"/>
            <a:ext cx="457200" cy="457200"/>
          </a:xfrm>
          <a:prstGeom prst="ellipse">
            <a:avLst/>
          </a:prstGeom>
          <a:solidFill>
            <a:srgbClr val="FFB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9436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88720" y="2660904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Copilot prompts accelerate Semantic Kernel → Agent Framework migration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3282696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94360" y="3374136"/>
            <a:ext cx="457200" cy="457200"/>
          </a:xfrm>
          <a:prstGeom prst="ellipse">
            <a:avLst/>
          </a:prstGeom>
          <a:solidFill>
            <a:srgbClr val="F250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94360" y="3374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188720" y="3374136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SRE Agent applies agent patterns for enterprise-scale operational intelligence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57200" y="3995928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594360" y="4087368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594360" y="4087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188720" y="408736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Extensibility via sub-agents and MCP enables customization without rebuilding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892040"/>
            <a:ext cx="365760" cy="73152"/>
          </a:xfrm>
          <a:prstGeom prst="rect">
            <a:avLst/>
          </a:prstGeom>
          <a:solidFill>
            <a:srgbClr val="F250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822960" y="4892040"/>
            <a:ext cx="365760" cy="73152"/>
          </a:xfrm>
          <a:prstGeom prst="rect">
            <a:avLst/>
          </a:prstGeom>
          <a:solidFill>
            <a:srgbClr val="7FB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1188720" y="4892040"/>
            <a:ext cx="365760" cy="73152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1554480" y="4892040"/>
            <a:ext cx="365760" cy="73152"/>
          </a:xfrm>
          <a:prstGeom prst="rect">
            <a:avLst/>
          </a:prstGeom>
          <a:solidFill>
            <a:srgbClr val="FFB900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432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Resources &amp; Next Steps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3931920" cy="8686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115568"/>
            <a:ext cx="457200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34440" y="1051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Framework GitHub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1234440" y="1371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0E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github.com/microsoft/agent-framework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4754880" y="914400"/>
            <a:ext cx="3931920" cy="8686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115568"/>
            <a:ext cx="457200" cy="457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532120" y="1051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Framework Docs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5532120" y="1371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0E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learn.microsoft.com/agent-framework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457200" y="1874520"/>
            <a:ext cx="3931920" cy="8686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2075688"/>
            <a:ext cx="457200" cy="4572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34440" y="20116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SRE Agent</a:t>
            </a:r>
            <a:endParaRPr lang="en-US" sz="1300" dirty="0"/>
          </a:p>
        </p:txBody>
      </p:sp>
      <p:sp>
        <p:nvSpPr>
          <p:cNvPr id="15" name="Text 9"/>
          <p:cNvSpPr/>
          <p:nvPr/>
        </p:nvSpPr>
        <p:spPr>
          <a:xfrm>
            <a:off x="1234440" y="2331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0E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learn.microsoft.com/azure/sre-agent</a:t>
            </a:r>
            <a:endParaRPr lang="en-US" sz="800" dirty="0"/>
          </a:p>
        </p:txBody>
      </p:sp>
      <p:sp>
        <p:nvSpPr>
          <p:cNvPr id="16" name="Shape 10"/>
          <p:cNvSpPr/>
          <p:nvPr/>
        </p:nvSpPr>
        <p:spPr>
          <a:xfrm>
            <a:off x="4754880" y="1874520"/>
            <a:ext cx="3931920" cy="8686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7760" y="2075688"/>
            <a:ext cx="457200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532120" y="20116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DevUI Guide</a:t>
            </a:r>
            <a:endParaRPr lang="en-US" sz="1300" dirty="0"/>
          </a:p>
        </p:txBody>
      </p:sp>
      <p:sp>
        <p:nvSpPr>
          <p:cNvPr id="19" name="Text 12"/>
          <p:cNvSpPr/>
          <p:nvPr/>
        </p:nvSpPr>
        <p:spPr>
          <a:xfrm>
            <a:off x="5532120" y="2331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0E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learn.microsoft.com/agent-framework/user-guide/devui</a:t>
            </a:r>
            <a:endParaRPr lang="en-US" sz="800" dirty="0"/>
          </a:p>
        </p:txBody>
      </p:sp>
      <p:sp>
        <p:nvSpPr>
          <p:cNvPr id="20" name="Shape 13"/>
          <p:cNvSpPr/>
          <p:nvPr/>
        </p:nvSpPr>
        <p:spPr>
          <a:xfrm>
            <a:off x="457200" y="2834640"/>
            <a:ext cx="3931920" cy="8686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3035808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234440" y="2971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VS Code AI Toolkit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1234440" y="3291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0E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code.visualstudio.com/docs/intelligentapps</a:t>
            </a:r>
            <a:endParaRPr lang="en-US" sz="800" dirty="0"/>
          </a:p>
        </p:txBody>
      </p:sp>
      <p:sp>
        <p:nvSpPr>
          <p:cNvPr id="24" name="Shape 16"/>
          <p:cNvSpPr/>
          <p:nvPr/>
        </p:nvSpPr>
        <p:spPr>
          <a:xfrm>
            <a:off x="4754880" y="2834640"/>
            <a:ext cx="3931920" cy="86868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7760" y="3035808"/>
            <a:ext cx="457200" cy="457200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5532120" y="2971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Migration Prompt</a:t>
            </a:r>
            <a:endParaRPr lang="en-US" sz="1300" dirty="0"/>
          </a:p>
        </p:txBody>
      </p:sp>
      <p:sp>
        <p:nvSpPr>
          <p:cNvPr id="27" name="Text 18"/>
          <p:cNvSpPr/>
          <p:nvPr/>
        </p:nvSpPr>
        <p:spPr>
          <a:xfrm>
            <a:off x="5532120" y="3291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0E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github.com/.../SemanticKernelToAgentFramework.md</a:t>
            </a:r>
            <a:endParaRPr lang="en-US" sz="800" dirty="0"/>
          </a:p>
        </p:txBody>
      </p:sp>
      <p:sp>
        <p:nvSpPr>
          <p:cNvPr id="28" name="Shape 19"/>
          <p:cNvSpPr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0"/>
          <p:cNvSpPr/>
          <p:nvPr/>
        </p:nvSpPr>
        <p:spPr>
          <a:xfrm>
            <a:off x="640080" y="3977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📧  Questions? Feedback? Reach out or explore the docs above.</a:t>
            </a:r>
            <a:endParaRPr lang="en-US" sz="1400" dirty="0"/>
          </a:p>
        </p:txBody>
      </p:sp>
      <p:sp>
        <p:nvSpPr>
          <p:cNvPr id="30" name="Shape 21"/>
          <p:cNvSpPr/>
          <p:nvPr/>
        </p:nvSpPr>
        <p:spPr>
          <a:xfrm>
            <a:off x="457200" y="4754880"/>
            <a:ext cx="365760" cy="73152"/>
          </a:xfrm>
          <a:prstGeom prst="rect">
            <a:avLst/>
          </a:prstGeom>
          <a:solidFill>
            <a:srgbClr val="F250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2"/>
          <p:cNvSpPr/>
          <p:nvPr/>
        </p:nvSpPr>
        <p:spPr>
          <a:xfrm>
            <a:off x="822960" y="4754880"/>
            <a:ext cx="365760" cy="73152"/>
          </a:xfrm>
          <a:prstGeom prst="rect">
            <a:avLst/>
          </a:prstGeom>
          <a:solidFill>
            <a:srgbClr val="7FB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3"/>
          <p:cNvSpPr/>
          <p:nvPr/>
        </p:nvSpPr>
        <p:spPr>
          <a:xfrm>
            <a:off x="1188720" y="4754880"/>
            <a:ext cx="365760" cy="73152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4"/>
          <p:cNvSpPr/>
          <p:nvPr/>
        </p:nvSpPr>
        <p:spPr>
          <a:xfrm>
            <a:off x="1554480" y="4754880"/>
            <a:ext cx="365760" cy="73152"/>
          </a:xfrm>
          <a:prstGeom prst="rect">
            <a:avLst/>
          </a:prstGeom>
          <a:solidFill>
            <a:srgbClr val="FFB900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137160"/>
          </a:xfrm>
          <a:prstGeom prst="rect">
            <a:avLst/>
          </a:prstGeom>
          <a:solidFill>
            <a:srgbClr val="F250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286000" y="0"/>
            <a:ext cx="2286000" cy="137160"/>
          </a:xfrm>
          <a:prstGeom prst="rect">
            <a:avLst/>
          </a:prstGeom>
          <a:solidFill>
            <a:srgbClr val="7FB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0" y="0"/>
            <a:ext cx="2286000" cy="137160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0" y="0"/>
            <a:ext cx="2286000" cy="137160"/>
          </a:xfrm>
          <a:prstGeom prst="rect">
            <a:avLst/>
          </a:prstGeom>
          <a:solidFill>
            <a:srgbClr val="FFB90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914400"/>
            <a:ext cx="91440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FFFFF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Questions?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 for attending!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Workshop materials: lab1-agent-basics.ipynb  |  lab2-sre-agent-basics.ipynb  |  lab3-sre-extensibility.ipynb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895</TotalTime>
  <Words>2385</Words>
  <Application>Microsoft Macintosh PowerPoint</Application>
  <PresentationFormat>On-screen Show (16:9)</PresentationFormat>
  <Paragraphs>371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Consolas</vt:lpstr>
      <vt:lpstr>Segoe UI</vt:lpstr>
      <vt:lpstr>Segoe UI Light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Agent Framework &amp; Azure SRE Agent Workshop</dc:title>
  <dc:subject>Hands-On Technical Workshop</dc:subject>
  <dc:creator>Jin Lee</dc:creator>
  <cp:lastModifiedBy>Jin Lee (HLS US SE)</cp:lastModifiedBy>
  <cp:revision>38</cp:revision>
  <dcterms:created xsi:type="dcterms:W3CDTF">2026-02-01T23:44:47Z</dcterms:created>
  <dcterms:modified xsi:type="dcterms:W3CDTF">2026-02-02T14:44:39Z</dcterms:modified>
</cp:coreProperties>
</file>