
<file path=[Content_Types].xml><?xml version="1.0" encoding="utf-8"?>
<Types xmlns="http://schemas.openxmlformats.org/package/2006/content-types">
  <Default Extension="Default" ContentType="image/png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57" r:id="rId3"/>
    <p:sldId id="274" r:id="rId4"/>
    <p:sldId id="258" r:id="rId5"/>
    <p:sldId id="259" r:id="rId6"/>
    <p:sldId id="275" r:id="rId7"/>
    <p:sldId id="261" r:id="rId8"/>
    <p:sldId id="262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2"/>
    <p:restoredTop sz="64646"/>
  </p:normalViewPr>
  <p:slideViewPr>
    <p:cSldViewPr snapToGrid="0" snapToObjects="1">
      <p:cViewPr>
        <p:scale>
          <a:sx n="138" d="100"/>
          <a:sy n="138" d="100"/>
        </p:scale>
        <p:origin x="204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83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
Resources:
- Agent Framework: github.com/microsoft/agent-framework
- SRE Agent: learn.microsoft.com/azure/sre-agent
- AI Toolkit: code.visualstudio.com/docs/intelligentapps/overview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E4E1-2C3E-2C0E-F2C3-E28C1846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03C8D-FE91-64E3-CE5C-4C97DD342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7E9D3-799E-55FD-BB85-D03C23B0F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AI agent is an LLM plus planning, memory, tools, and governance — and Microsoft Agent Framework provides the architecture that makes those capabilities reliable and enterprise-ready.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CF815-1159-F670-6C81-6546CD0E8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8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learn.microsoft.com/agent-framework/overview/agent-framework-overview
Azure multi-agent: learn.microsoft.com/azure/architecture/ai-ml/idea/multiple-agent-workflow-automation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D68F-CFF7-363A-CB93-C13999F1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581A1-0571-8E57-52C7-1E7C6B929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4DD61-3F8B-8442-E286-06367AA8C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DCEF2-DC2A-C82C-6632-3380036BE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54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DevUI: learn.microsoft.com/agent-framework/user-guide/devui
AI Toolkit: code.visualstudio.com/docs/intelligentapps/overview
Golden Triangle: devblogs.microsoft.com/semantic-kernel/the-golden-triangle-of-agentic-development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8558-904A-B3D3-B66D-980F9E6D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97C23-02F7-90A1-2EFC-74DE9254C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2A8A7-152B-0458-B54E-BEE94FD37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DevUI: learn.microsoft.com/agent-framework/user-guide/devui
AI Toolkit: code.visualstudio.com/docs/intelligentapps/overview
Golden Triangle: devblogs.microsoft.com/semantic-kernel/the-golden-triangle-of-agentic-development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52CF-D506-6E12-17A1-D676154B7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82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7D72-0F20-FF1F-45A5-9E1F7551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D969A-6D46-111C-6A45-D7E051C76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8EA00-9D4B-F9A5-68B0-BECD9FF27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DevUI: learn.microsoft.com/agent-framework/user-guide/devui
AI Toolkit: code.visualstudio.com/docs/intelligentapps/overview
Golden Triangle: devblogs.microsoft.com/semantic-kernel/the-golden-triangle-of-agentic-development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BB6A9-2035-9E6A-DBC6-6F5EE5348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77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 prompt: github.com/microsoft/agent-framework/blob/main/.github/upgrades/prompts/SemanticKernelToAgentFramework.md
Code Migration blog: techcommunity.microsoft.com/blog/azure-ai-foundry-blog/empowering-multi-agent-solutions-with-microsoft-agent-framework---code-migration/4468094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AG-UI Protocol: docs.ag-ui.com
GitHub: github.com/ag-ui-protocol/ag-ui
Microsoft Integration: learn.microsoft.com/agent-framework/integrations/ag-ui
AG-UI complements MCP (tools) and A2A (agent-to-agent) to complete the agentic protocol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4F2B-3A43-7F5B-3E69-A162631AC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36EB5-B919-F4E1-32C8-333BFAF3E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E8E48-7299-381A-E5C7-AB81F7D3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8E15-8169-05F5-4379-B586FBA1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75D25-1843-DEDC-0EC8-CF459A41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280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4970D-CBE4-16D6-D73D-A583EB38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236BB-2712-5051-C3D1-0E259E5F6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E9E37-308D-CC16-9AB4-D823384B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A2C53-3B09-2345-3A40-29575D58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D5752-BC56-1C21-4ABC-6D7106CF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42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FA22-480F-7935-4AFB-2CCBCE94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5A9F3-BF2F-F05F-8722-F13F0B327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2C0DB-B3DF-596E-E421-80699DC9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DD1F9-267D-D71F-633F-733CDE2C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C05C-0030-2C18-E0C5-30E91CB6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204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D240-83B0-5057-EF62-571AF1EB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BC58-82B5-3A2F-2488-66407B086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55EDA-3EE7-6283-458A-CA9A249B4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BAD58-9A8C-50DA-F990-738DDB9A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4180C-3511-D592-CB89-94AFBA96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6D8B7-9A2B-16AC-D4A2-C68CAB1A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170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53EA-31DD-C121-FF26-1889F2F6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99DE8-B444-2770-A4B3-FE42F12D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646BE-FA9B-134D-9FE1-27D530BF3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5545C-365B-1E3F-0715-2EC4B7A7E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60DF9-03AC-FE99-3B1C-51FD75926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3E785-C829-49F5-FBC6-5D2BF01A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27DAC2-A8FA-3BC2-79A7-FE950723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9B18C-8C7D-1CBA-B689-08A5EF79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653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45D6-F2CE-7A0F-B0FC-6363D5C0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847BC-B434-B6B2-F042-3AF81F72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CC112-7162-0A77-961F-851FEA57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4F758-6703-8A4D-21B5-5B13598C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700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CC4EE-C472-C44B-7AF3-AD5444D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06CAC-2416-9B64-F529-1A030014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623A-F648-6BB0-4CA3-79A67C1F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632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C24E-9902-FB6E-1BEA-A02C1219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4CCD-AE61-77AF-3C15-3C7DA3021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0265D-7948-AC8B-90CD-2ADA677BB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6DB37-71C3-55B4-AAC7-29ED1532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FE3E8-84EE-4C8C-8A92-35F5588A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D0953-0C6A-36D6-B8D3-34261C2C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3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8AA0-A07D-EA3F-4C85-8390847F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D5EA1-EE58-EFBC-60E9-D8DA1FF95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EB613-8A2E-F46E-5722-36CFE4CC6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80BBE-17E6-B6F9-5E05-2B028171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36F3E-F9E7-DA64-48AA-6446EEED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C09E0-9538-7F1C-18AD-D5E0C0B2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857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795E-1EF9-131D-74D0-816FDD10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9E62A-C079-6AF9-A24B-E1228BCF8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B9A7C-08BF-ECC4-D435-C4425893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49450-3797-7619-22FE-CEF55424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2EDB-CF71-DB3D-22FE-7729E9D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450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559F8-168B-F1ED-00C2-4AB26A892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EAE91-8F8C-1F7C-CE28-E8DAB59C3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13769-2E48-913C-06BB-D703A320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F464-8B58-3F44-011E-B75FF35B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7DA3-31C4-78B1-57C0-888815FA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345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99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4A144-782D-BE27-87A0-32212099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0157D-DCF4-C7D1-6B10-78D861024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A652D-ADFB-58C1-3DD6-E48C182A9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9FAE0-55E0-404C-964C-858A076D6859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C5637-9B78-511F-E8E3-8B3ECEFB0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47B7E-10CC-024F-6ACD-AC762EE0D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CABC1-4E32-6045-B08A-C1F670E39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3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gif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Default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347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921161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Microsoft Agent Framework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1921161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Azure SRE Agent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921163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Primitives  •  Extensibility  •  Developer Tooling  •  Hands-On Labs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3840480"/>
            <a:ext cx="3265056" cy="9144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Jin Lee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AI Apps Solutions Engineer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Microsoft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57200" y="493776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" y="493776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88720" y="493776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554480" y="493776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Picture 20" descr="NuGet Gallery | MicrosoftAgentFramework">
            <a:extLst>
              <a:ext uri="{FF2B5EF4-FFF2-40B4-BE49-F238E27FC236}">
                <a16:creationId xmlns:a16="http://schemas.microsoft.com/office/drawing/2014/main" id="{3CDA4D60-0BAF-1443-7E95-074D355F7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52" y="808932"/>
            <a:ext cx="1491095" cy="1491095"/>
          </a:xfrm>
          <a:prstGeom prst="rect">
            <a:avLst/>
          </a:prstGeom>
        </p:spPr>
      </p:pic>
      <p:pic>
        <p:nvPicPr>
          <p:cNvPr id="23" name="Picture 22" descr="Microsoft Azure Logo, symbol, meaning, history, PNG, brand">
            <a:extLst>
              <a:ext uri="{FF2B5EF4-FFF2-40B4-BE49-F238E27FC236}">
                <a16:creationId xmlns:a16="http://schemas.microsoft.com/office/drawing/2014/main" id="{7E209AFD-F647-5AA2-3CA8-DF8875071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41" y="1644751"/>
            <a:ext cx="1465117" cy="824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Agenda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234440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12070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 &amp; Architecture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1680" y="1508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Primitives, workflow patterns, and ecosystem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190195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" y="1901952"/>
            <a:ext cx="82296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19019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15m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03911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1: Build Your First Agent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011680" y="2313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with Agents, Threads, Runs, and Tools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270662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7200" y="2706624"/>
            <a:ext cx="82296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57200" y="270662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284378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11680" y="2816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Tooling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2011680" y="31181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DevUI, VS Code AI Toolkit, and GitHub Copilot prompts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51129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7200" y="3511296"/>
            <a:ext cx="82296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" y="35112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15m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648456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11680" y="36210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SRE Agent Deep Dive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011680" y="3922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Capabilities, memory system, and extensibility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57200" y="4320693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57200" y="4320693"/>
            <a:ext cx="822960" cy="7132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57200" y="4320693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</a:t>
            </a:r>
            <a:endParaRPr lang="en-US" sz="14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45312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011680" y="442569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2 &amp; 3: SRE Agent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2011680" y="4732173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Interaction, sub-agents, and MCP workflows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3FAB-E01F-0637-C446-F92DB60D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C258D5-4C6E-C1CE-8157-F2C7C07D9EE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B6EC1-78E5-8664-4651-E58DF35B6248}"/>
              </a:ext>
            </a:extLst>
          </p:cNvPr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pic>
        <p:nvPicPr>
          <p:cNvPr id="12" name="Picture 11" descr="Microsoft Azure Logo, symbol, meaning, history, PNG, brand">
            <a:extLst>
              <a:ext uri="{FF2B5EF4-FFF2-40B4-BE49-F238E27FC236}">
                <a16:creationId xmlns:a16="http://schemas.microsoft.com/office/drawing/2014/main" id="{860CA675-AEFF-103C-3EC9-A498AB02E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8" y="320040"/>
            <a:ext cx="780922" cy="439269"/>
          </a:xfrm>
          <a:prstGeom prst="rect">
            <a:avLst/>
          </a:prstGeom>
        </p:spPr>
      </p:pic>
      <p:pic>
        <p:nvPicPr>
          <p:cNvPr id="15" name="Picture 14" descr="CData Developer Center">
            <a:extLst>
              <a:ext uri="{FF2B5EF4-FFF2-40B4-BE49-F238E27FC236}">
                <a16:creationId xmlns:a16="http://schemas.microsoft.com/office/drawing/2014/main" id="{3FD7CA2B-8352-FD35-3D25-7043D444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714" y="3356637"/>
            <a:ext cx="449317" cy="3924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6C8AE8-A500-3146-DB73-CA94FA9D0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094" t="3249" r="10172" b="11904"/>
          <a:stretch>
            <a:fillRect/>
          </a:stretch>
        </p:blipFill>
        <p:spPr>
          <a:xfrm>
            <a:off x="1620697" y="1097280"/>
            <a:ext cx="5555768" cy="3941379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687248B-9BDA-6626-F48E-CD3562098EDC}"/>
              </a:ext>
            </a:extLst>
          </p:cNvPr>
          <p:cNvSpPr/>
          <p:nvPr/>
        </p:nvSpPr>
        <p:spPr>
          <a:xfrm>
            <a:off x="1143000" y="302109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even </a:t>
            </a:r>
            <a:r>
              <a:rPr lang="en-US" sz="26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“Agent”?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1096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FA0E2A-F3D5-031C-1A7A-5B13984817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2" t="2222" r="3165" b="21042"/>
          <a:stretch>
            <a:fillRect/>
          </a:stretch>
        </p:blipFill>
        <p:spPr>
          <a:xfrm>
            <a:off x="1401991" y="957076"/>
            <a:ext cx="6008678" cy="324476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Framework: Architecture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4136872"/>
            <a:ext cx="7034574" cy="6865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4136872"/>
            <a:ext cx="62530" cy="6865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4144974"/>
            <a:ext cx="6643764" cy="2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Unifies Semantic Kernel + AutoGen into production-ready SDK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4465014"/>
            <a:ext cx="6643764" cy="2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 •  .NET  •  Java   |   OpenTelemetry Observability   |   Entra ID Authentication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learn.microsoft.com/agent-framework/overview/agent-framework-overview</a:t>
            </a:r>
            <a:endParaRPr lang="en-US" sz="900" dirty="0"/>
          </a:p>
        </p:txBody>
      </p:sp>
      <p:pic>
        <p:nvPicPr>
          <p:cNvPr id="12" name="Picture 11" descr="Microsoft Azure Logo, symbol, meaning, history, PNG, brand">
            <a:extLst>
              <a:ext uri="{FF2B5EF4-FFF2-40B4-BE49-F238E27FC236}">
                <a16:creationId xmlns:a16="http://schemas.microsoft.com/office/drawing/2014/main" id="{BBAF218C-04CC-CF40-96BC-3B32859DD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78" y="320040"/>
            <a:ext cx="780922" cy="439269"/>
          </a:xfrm>
          <a:prstGeom prst="rect">
            <a:avLst/>
          </a:prstGeom>
        </p:spPr>
      </p:pic>
      <p:pic>
        <p:nvPicPr>
          <p:cNvPr id="15" name="Picture 14" descr="CData Developer Center">
            <a:extLst>
              <a:ext uri="{FF2B5EF4-FFF2-40B4-BE49-F238E27FC236}">
                <a16:creationId xmlns:a16="http://schemas.microsoft.com/office/drawing/2014/main" id="{40F5511B-3AD6-A16C-4B34-91E0AFF52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714" y="3356637"/>
            <a:ext cx="449317" cy="392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Primitives: The Core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9382" y="1005840"/>
            <a:ext cx="196596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29382" y="1005840"/>
            <a:ext cx="19659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5162" y="1234440"/>
            <a:ext cx="914400" cy="9144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42" y="14173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822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69462" y="2697480"/>
            <a:ext cx="685800" cy="3657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66542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persona with instructions, model, and tool bindings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23942" y="1005840"/>
            <a:ext cx="196596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523942" y="1005840"/>
            <a:ext cx="19659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49722" y="1234440"/>
            <a:ext cx="914400" cy="9144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602" y="14173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15382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3164022" y="2697480"/>
            <a:ext cx="685800" cy="3657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2661102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 container with server-side persistence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18502" y="1005840"/>
            <a:ext cx="196596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18502" y="1005840"/>
            <a:ext cx="19659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244282" y="1234440"/>
            <a:ext cx="914400" cy="9144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7162" y="14173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09942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358582" y="2697480"/>
            <a:ext cx="685800" cy="3657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855662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execution with status lifecycle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913062" y="1005840"/>
            <a:ext cx="196596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913062" y="1005840"/>
            <a:ext cx="19659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438842" y="1234440"/>
            <a:ext cx="914400" cy="9144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722" y="141732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04502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7553142" y="2697480"/>
            <a:ext cx="685800" cy="3657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050222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Interpreter, File Search, MCP, Custom functions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→  Thread  →  Run  →  Tool Calls  →  Response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EC5B-0B54-DC4B-0300-22DDDBC0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7">
            <a:extLst>
              <a:ext uri="{FF2B5EF4-FFF2-40B4-BE49-F238E27FC236}">
                <a16:creationId xmlns:a16="http://schemas.microsoft.com/office/drawing/2014/main" id="{FC03D51D-9EA9-9F61-FB44-A4DF16EDE6AA}"/>
              </a:ext>
            </a:extLst>
          </p:cNvPr>
          <p:cNvSpPr/>
          <p:nvPr/>
        </p:nvSpPr>
        <p:spPr>
          <a:xfrm>
            <a:off x="2484616" y="3081725"/>
            <a:ext cx="2011680" cy="990545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0E0D40C-F4A3-3158-0DB6-D127D7737AE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BAB0CD-E92C-D249-6594-87A2B22B1DFA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Patterns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3792E6-BC56-F653-3862-794E50EC9418}"/>
              </a:ext>
            </a:extLst>
          </p:cNvPr>
          <p:cNvSpPr/>
          <p:nvPr/>
        </p:nvSpPr>
        <p:spPr>
          <a:xfrm>
            <a:off x="290055" y="116114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8B37936-B362-A2FA-2C0E-8AE765BDD9C5}"/>
              </a:ext>
            </a:extLst>
          </p:cNvPr>
          <p:cNvSpPr/>
          <p:nvPr/>
        </p:nvSpPr>
        <p:spPr>
          <a:xfrm>
            <a:off x="290055" y="1161146"/>
            <a:ext cx="20116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AFA42E-42AA-B0EE-5565-F3AFB4BAB18D}"/>
              </a:ext>
            </a:extLst>
          </p:cNvPr>
          <p:cNvSpPr/>
          <p:nvPr/>
        </p:nvSpPr>
        <p:spPr>
          <a:xfrm>
            <a:off x="381495" y="12983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6491C6-A9CC-4EB8-850A-4768B7E6987F}"/>
              </a:ext>
            </a:extLst>
          </p:cNvPr>
          <p:cNvSpPr/>
          <p:nvPr/>
        </p:nvSpPr>
        <p:spPr>
          <a:xfrm>
            <a:off x="381495" y="166406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 → C → Result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C58F26-78F4-ACCC-9E29-648840A64E32}"/>
              </a:ext>
            </a:extLst>
          </p:cNvPr>
          <p:cNvSpPr/>
          <p:nvPr/>
        </p:nvSpPr>
        <p:spPr>
          <a:xfrm>
            <a:off x="381495" y="221270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execute in order, passing results along the chain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1E13C6-1BE2-4B01-40D2-F9D27E36AB0A}"/>
              </a:ext>
            </a:extLst>
          </p:cNvPr>
          <p:cNvSpPr/>
          <p:nvPr/>
        </p:nvSpPr>
        <p:spPr>
          <a:xfrm>
            <a:off x="2484615" y="116114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0A04F3C-9192-7D84-42A4-B53B5D509014}"/>
              </a:ext>
            </a:extLst>
          </p:cNvPr>
          <p:cNvSpPr/>
          <p:nvPr/>
        </p:nvSpPr>
        <p:spPr>
          <a:xfrm>
            <a:off x="2484615" y="1161146"/>
            <a:ext cx="201168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982B9B-D8F7-2CCB-485D-C4A8AD843ACC}"/>
              </a:ext>
            </a:extLst>
          </p:cNvPr>
          <p:cNvSpPr/>
          <p:nvPr/>
        </p:nvSpPr>
        <p:spPr>
          <a:xfrm>
            <a:off x="2576055" y="12983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4F93443-3528-51AE-400B-9412563357F7}"/>
              </a:ext>
            </a:extLst>
          </p:cNvPr>
          <p:cNvSpPr/>
          <p:nvPr/>
        </p:nvSpPr>
        <p:spPr>
          <a:xfrm>
            <a:off x="3175144" y="1627490"/>
            <a:ext cx="857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┬→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B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B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┘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4426AE-6DCE-3F7E-8EDA-234B053E1356}"/>
              </a:ext>
            </a:extLst>
          </p:cNvPr>
          <p:cNvSpPr/>
          <p:nvPr/>
        </p:nvSpPr>
        <p:spPr>
          <a:xfrm>
            <a:off x="2576055" y="221270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agents work in parallel, results aggregated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F6F6909-3FC5-340E-9CC0-F7A9142E8BB6}"/>
              </a:ext>
            </a:extLst>
          </p:cNvPr>
          <p:cNvSpPr/>
          <p:nvPr/>
        </p:nvSpPr>
        <p:spPr>
          <a:xfrm>
            <a:off x="4679175" y="116114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BDC7486-58F6-F23E-42C6-19A81DBD1CD9}"/>
              </a:ext>
            </a:extLst>
          </p:cNvPr>
          <p:cNvSpPr/>
          <p:nvPr/>
        </p:nvSpPr>
        <p:spPr>
          <a:xfrm>
            <a:off x="4679175" y="1161146"/>
            <a:ext cx="201168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7201A62-CF0D-5711-9C3B-43B6073B0531}"/>
              </a:ext>
            </a:extLst>
          </p:cNvPr>
          <p:cNvSpPr/>
          <p:nvPr/>
        </p:nvSpPr>
        <p:spPr>
          <a:xfrm>
            <a:off x="4770615" y="12983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Handoff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9AEF09D-5DB3-033D-3B5A-B1A0782C7E7A}"/>
              </a:ext>
            </a:extLst>
          </p:cNvPr>
          <p:cNvSpPr/>
          <p:nvPr/>
        </p:nvSpPr>
        <p:spPr>
          <a:xfrm>
            <a:off x="4770615" y="166406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⇄ B ⇄ C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32582F-4478-374C-D542-CD42EFB77EE9}"/>
              </a:ext>
            </a:extLst>
          </p:cNvPr>
          <p:cNvSpPr/>
          <p:nvPr/>
        </p:nvSpPr>
        <p:spPr>
          <a:xfrm>
            <a:off x="4770615" y="221270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Responsibility shifts between agents based on context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DC51EE-F95D-BAA3-D44D-D8965F1B718B}"/>
              </a:ext>
            </a:extLst>
          </p:cNvPr>
          <p:cNvSpPr/>
          <p:nvPr/>
        </p:nvSpPr>
        <p:spPr>
          <a:xfrm>
            <a:off x="6873735" y="116114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B47CC7F-7ABD-A4CD-CF33-093A67780FFD}"/>
              </a:ext>
            </a:extLst>
          </p:cNvPr>
          <p:cNvSpPr/>
          <p:nvPr/>
        </p:nvSpPr>
        <p:spPr>
          <a:xfrm>
            <a:off x="6873735" y="1161146"/>
            <a:ext cx="201168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A9F7327-74E2-48AB-40C0-A668D7471218}"/>
              </a:ext>
            </a:extLst>
          </p:cNvPr>
          <p:cNvSpPr/>
          <p:nvPr/>
        </p:nvSpPr>
        <p:spPr>
          <a:xfrm>
            <a:off x="6965175" y="12983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GroupChat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B8C864-868B-0989-3FA1-8A558D46F98C}"/>
              </a:ext>
            </a:extLst>
          </p:cNvPr>
          <p:cNvSpPr/>
          <p:nvPr/>
        </p:nvSpPr>
        <p:spPr>
          <a:xfrm>
            <a:off x="6965175" y="166406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50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 B C] ↔ Chat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783F67E-2D12-C2F1-194F-1DA8D3331BFA}"/>
              </a:ext>
            </a:extLst>
          </p:cNvPr>
          <p:cNvSpPr/>
          <p:nvPr/>
        </p:nvSpPr>
        <p:spPr>
          <a:xfrm>
            <a:off x="6965175" y="221270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collaborate in shared conversational space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25927E2-E5B5-21F0-7816-53102DC6E145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https://</a:t>
            </a:r>
            <a:r>
              <a:rPr lang="en-US" sz="90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learn.microsoft.com</a:t>
            </a: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r>
              <a:rPr lang="en-US" sz="90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-us/agent-framework/user-guide/workflows/orchestrations</a:t>
            </a:r>
            <a:endParaRPr lang="en-US" sz="90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92B7C92-AE6B-A529-9FD1-4A1840648E72}"/>
              </a:ext>
            </a:extLst>
          </p:cNvPr>
          <p:cNvSpPr/>
          <p:nvPr/>
        </p:nvSpPr>
        <p:spPr>
          <a:xfrm>
            <a:off x="315290" y="3081386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0BE178C9-33D2-C307-A211-DAD04E92DEDA}"/>
              </a:ext>
            </a:extLst>
          </p:cNvPr>
          <p:cNvSpPr/>
          <p:nvPr/>
        </p:nvSpPr>
        <p:spPr>
          <a:xfrm>
            <a:off x="315290" y="3081386"/>
            <a:ext cx="20116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43816165-800B-BCFA-0E5B-F47EB42023B9}"/>
              </a:ext>
            </a:extLst>
          </p:cNvPr>
          <p:cNvSpPr/>
          <p:nvPr/>
        </p:nvSpPr>
        <p:spPr>
          <a:xfrm>
            <a:off x="406730" y="321854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Magentic</a:t>
            </a:r>
            <a:endParaRPr lang="en-US" sz="14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3CA927C2-B3AA-3E6E-7A45-31AE832688A2}"/>
              </a:ext>
            </a:extLst>
          </p:cNvPr>
          <p:cNvSpPr/>
          <p:nvPr/>
        </p:nvSpPr>
        <p:spPr>
          <a:xfrm>
            <a:off x="381495" y="341363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purpose multi-agent pattern</a:t>
            </a:r>
            <a:endParaRPr lang="en-US" sz="9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5D0DD10-8EE5-9426-EE62-7CFFA988AE97}"/>
              </a:ext>
            </a:extLst>
          </p:cNvPr>
          <p:cNvSpPr/>
          <p:nvPr/>
        </p:nvSpPr>
        <p:spPr>
          <a:xfrm>
            <a:off x="2484615" y="3081386"/>
            <a:ext cx="2011680" cy="45719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6953BCC6-CF39-8F03-A6E3-F5D15BF0FDF6}"/>
              </a:ext>
            </a:extLst>
          </p:cNvPr>
          <p:cNvSpPr/>
          <p:nvPr/>
        </p:nvSpPr>
        <p:spPr>
          <a:xfrm>
            <a:off x="2576055" y="3291841"/>
            <a:ext cx="182880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8A0722B-C350-9273-C7AA-3102ECEC5548}"/>
              </a:ext>
            </a:extLst>
          </p:cNvPr>
          <p:cNvSpPr/>
          <p:nvPr/>
        </p:nvSpPr>
        <p:spPr>
          <a:xfrm>
            <a:off x="2576055" y="3584306"/>
            <a:ext cx="18288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and request input from humans at designated points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9024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872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1: Agent Framework Basics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029200" cy="3291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Build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Create an Agent with custom instructions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Bind tools (Code Interpreter + custom function)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Create a Thread and add messages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Execute a Run and handle tool calls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Retrieve and display the response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097280"/>
            <a:ext cx="2926080" cy="2286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4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43600" y="2194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subscription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Foundry project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3.10+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azure-ai-projects SDK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15 minutes  |  Open: lab1-agent-basics.ipynb</a:t>
            </a:r>
            <a:endParaRPr lang="en-US" sz="1400" dirty="0"/>
          </a:p>
        </p:txBody>
      </p:sp>
      <p:pic>
        <p:nvPicPr>
          <p:cNvPr id="14" name="Graphic 13" descr="Beaker with solid fill">
            <a:extLst>
              <a:ext uri="{FF2B5EF4-FFF2-40B4-BE49-F238E27FC236}">
                <a16:creationId xmlns:a16="http://schemas.microsoft.com/office/drawing/2014/main" id="{E0FB973F-BC01-99C7-F378-2AA045A05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028" y="307428"/>
            <a:ext cx="652692" cy="652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Tooling for Agent Framework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73152" cy="2194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debugging for agent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visualization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OpenAI-compatible API 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./agents --port 8080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73152" cy="219456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5321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AI Toolkit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8348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Builder with graph visualizer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workspace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Code Gen (Agent Framework default)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→ Code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integration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Tooling for Agentic Development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for visual debugging  +  AI Toolkit for rapid prototyping  +  OpenTelemetry for production observability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489204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22960" y="489204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188720" y="489204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554480" y="489204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93776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learn.microsoft.com/agent-framework/user-guide/devui</a:t>
            </a:r>
            <a:endParaRPr lang="en-US" sz="900" dirty="0"/>
          </a:p>
        </p:txBody>
      </p:sp>
      <p:pic>
        <p:nvPicPr>
          <p:cNvPr id="23" name="Picture 22" descr="vscode Vector Icons free download in SVG, PNG Format">
            <a:extLst>
              <a:ext uri="{FF2B5EF4-FFF2-40B4-BE49-F238E27FC236}">
                <a16:creationId xmlns:a16="http://schemas.microsoft.com/office/drawing/2014/main" id="{218A5A9F-20FC-C814-E4AB-7EBB2105A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24" y="145905"/>
            <a:ext cx="879911" cy="879911"/>
          </a:xfrm>
          <a:prstGeom prst="rect">
            <a:avLst/>
          </a:prstGeom>
        </p:spPr>
      </p:pic>
      <p:pic>
        <p:nvPicPr>
          <p:cNvPr id="24" name="Picture 23" descr="vscode Vector Icons free download in SVG, PNG Format">
            <a:extLst>
              <a:ext uri="{FF2B5EF4-FFF2-40B4-BE49-F238E27FC236}">
                <a16:creationId xmlns:a16="http://schemas.microsoft.com/office/drawing/2014/main" id="{EAA6A2E5-8C63-90DD-A5D6-3B92C09FC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244" y="1255996"/>
            <a:ext cx="595664" cy="5956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2619-C1E1-40C6-DBFD-FC874495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7BB48B-7ABB-86ED-BF15-D87E39BFB4A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518DE3-FAC8-EBC4-FB95-83003A6CE1E5}"/>
              </a:ext>
            </a:extLst>
          </p:cNvPr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Tooling for Agent Framework</a:t>
            </a:r>
            <a:endParaRPr lang="en-US" sz="2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D3E5851-50EC-6E44-5303-87FB03B73109}"/>
              </a:ext>
            </a:extLst>
          </p:cNvPr>
          <p:cNvSpPr/>
          <p:nvPr/>
        </p:nvSpPr>
        <p:spPr>
          <a:xfrm>
            <a:off x="45720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46CC75F-93C1-9DC0-404A-73F47254C05E}"/>
              </a:ext>
            </a:extLst>
          </p:cNvPr>
          <p:cNvSpPr/>
          <p:nvPr/>
        </p:nvSpPr>
        <p:spPr>
          <a:xfrm>
            <a:off x="457200" y="1188720"/>
            <a:ext cx="73152" cy="2194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6B3C4A7-A5DC-8D68-6590-3F51F842D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560450E-0741-7662-D2B6-7FA3222A7361}"/>
              </a:ext>
            </a:extLst>
          </p:cNvPr>
          <p:cNvSpPr/>
          <p:nvPr/>
        </p:nvSpPr>
        <p:spPr>
          <a:xfrm>
            <a:off x="12344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A7BB40C-283B-21A0-801B-A4381C4ACA8B}"/>
              </a:ext>
            </a:extLst>
          </p:cNvPr>
          <p:cNvSpPr/>
          <p:nvPr/>
        </p:nvSpPr>
        <p:spPr>
          <a:xfrm>
            <a:off x="68580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debugging for agent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visualization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OpenAI-compatible API 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./agents --port 8080</a:t>
            </a:r>
            <a:endParaRPr lang="en-US" sz="11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2104422-2DF5-6C5A-8633-27391E21EA4A}"/>
              </a:ext>
            </a:extLst>
          </p:cNvPr>
          <p:cNvSpPr/>
          <p:nvPr/>
        </p:nvSpPr>
        <p:spPr>
          <a:xfrm>
            <a:off x="475488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D3146D6-12F6-6A27-C7B4-74C22DEC6A5B}"/>
              </a:ext>
            </a:extLst>
          </p:cNvPr>
          <p:cNvSpPr/>
          <p:nvPr/>
        </p:nvSpPr>
        <p:spPr>
          <a:xfrm>
            <a:off x="4754880" y="1188720"/>
            <a:ext cx="73152" cy="219456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F9D3FB8-E8F4-7268-5157-B483583860D3}"/>
              </a:ext>
            </a:extLst>
          </p:cNvPr>
          <p:cNvSpPr/>
          <p:nvPr/>
        </p:nvSpPr>
        <p:spPr>
          <a:xfrm>
            <a:off x="55321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AI Toolkit</a:t>
            </a:r>
            <a:endParaRPr lang="en-US" sz="1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DA7D0ED-B683-FAF5-07E0-FC35F79C70F5}"/>
              </a:ext>
            </a:extLst>
          </p:cNvPr>
          <p:cNvSpPr/>
          <p:nvPr/>
        </p:nvSpPr>
        <p:spPr>
          <a:xfrm>
            <a:off x="498348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Builder with graph visualizer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workspace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Code Gen (Agent Framework default)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→ Code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integration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17E2AAE-0526-0441-BE82-415B5FE162AE}"/>
              </a:ext>
            </a:extLst>
          </p:cNvPr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B197981-AA27-E328-B554-9D17C684F3B0}"/>
              </a:ext>
            </a:extLst>
          </p:cNvPr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Tooling for Agentic Development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6995300-798D-86F9-23AC-D7DC2354A3B2}"/>
              </a:ext>
            </a:extLst>
          </p:cNvPr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for visual debugging  +  AI Toolkit for rapid prototyping  +  OpenTelemetry for production observability</a:t>
            </a:r>
            <a:endParaRPr lang="en-US" sz="12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29812BF-C0F9-9F7E-A35E-B474AB8760F7}"/>
              </a:ext>
            </a:extLst>
          </p:cNvPr>
          <p:cNvSpPr/>
          <p:nvPr/>
        </p:nvSpPr>
        <p:spPr>
          <a:xfrm>
            <a:off x="457200" y="489204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AAC837F-00D8-9708-2D57-03ED937FDFB4}"/>
              </a:ext>
            </a:extLst>
          </p:cNvPr>
          <p:cNvSpPr/>
          <p:nvPr/>
        </p:nvSpPr>
        <p:spPr>
          <a:xfrm>
            <a:off x="822960" y="489204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26813DB7-488B-F4CA-665F-DCB64D3BFFD4}"/>
              </a:ext>
            </a:extLst>
          </p:cNvPr>
          <p:cNvSpPr/>
          <p:nvPr/>
        </p:nvSpPr>
        <p:spPr>
          <a:xfrm>
            <a:off x="1188720" y="489204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E3529CF-0B5F-7327-9D2B-D85BB4C06862}"/>
              </a:ext>
            </a:extLst>
          </p:cNvPr>
          <p:cNvSpPr/>
          <p:nvPr/>
        </p:nvSpPr>
        <p:spPr>
          <a:xfrm>
            <a:off x="1554480" y="489204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0CBD4FD-85B0-967B-05D9-E410CAC39F68}"/>
              </a:ext>
            </a:extLst>
          </p:cNvPr>
          <p:cNvSpPr/>
          <p:nvPr/>
        </p:nvSpPr>
        <p:spPr>
          <a:xfrm>
            <a:off x="493776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learn.microsoft.com/agent-framework/user-guide/devui</a:t>
            </a:r>
            <a:endParaRPr lang="en-US" sz="900" dirty="0"/>
          </a:p>
        </p:txBody>
      </p:sp>
      <p:pic>
        <p:nvPicPr>
          <p:cNvPr id="23" name="Picture 22" descr="vscode Vector Icons free download in SVG, PNG Format">
            <a:extLst>
              <a:ext uri="{FF2B5EF4-FFF2-40B4-BE49-F238E27FC236}">
                <a16:creationId xmlns:a16="http://schemas.microsoft.com/office/drawing/2014/main" id="{F20D1FBE-4D35-46FE-7AC6-89A2D2888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24" y="145905"/>
            <a:ext cx="879911" cy="879911"/>
          </a:xfrm>
          <a:prstGeom prst="rect">
            <a:avLst/>
          </a:prstGeom>
        </p:spPr>
      </p:pic>
      <p:pic>
        <p:nvPicPr>
          <p:cNvPr id="24" name="Picture 23" descr="vscode Vector Icons free download in SVG, PNG Format">
            <a:extLst>
              <a:ext uri="{FF2B5EF4-FFF2-40B4-BE49-F238E27FC236}">
                <a16:creationId xmlns:a16="http://schemas.microsoft.com/office/drawing/2014/main" id="{1F6863F3-9FBC-9907-B17E-B96E4807B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244" y="1255996"/>
            <a:ext cx="595664" cy="595664"/>
          </a:xfrm>
          <a:prstGeom prst="rect">
            <a:avLst/>
          </a:prstGeom>
        </p:spPr>
      </p:pic>
      <p:pic>
        <p:nvPicPr>
          <p:cNvPr id="3" name="Picture 2" descr="DevUI">
            <a:extLst>
              <a:ext uri="{FF2B5EF4-FFF2-40B4-BE49-F238E27FC236}">
                <a16:creationId xmlns:a16="http://schemas.microsoft.com/office/drawing/2014/main" id="{EAA1A8E0-52CC-D9FE-965C-66C91A49D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3752"/>
            <a:ext cx="7772400" cy="47359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394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2C6E-405C-14C3-C31D-48005C40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A7B738-6823-B922-E948-74A9140970A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A5AE653-68E2-70E3-4196-8EF4F3A743AE}"/>
              </a:ext>
            </a:extLst>
          </p:cNvPr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Tooling for Agent Framework</a:t>
            </a:r>
            <a:endParaRPr lang="en-US" sz="2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1BE3E22-116F-CF8D-3EDB-371340210C24}"/>
              </a:ext>
            </a:extLst>
          </p:cNvPr>
          <p:cNvSpPr/>
          <p:nvPr/>
        </p:nvSpPr>
        <p:spPr>
          <a:xfrm>
            <a:off x="45720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C51D218-F51C-E0FA-15FC-872746ADB5F5}"/>
              </a:ext>
            </a:extLst>
          </p:cNvPr>
          <p:cNvSpPr/>
          <p:nvPr/>
        </p:nvSpPr>
        <p:spPr>
          <a:xfrm>
            <a:off x="457200" y="1188720"/>
            <a:ext cx="73152" cy="21945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A1C30EB-1F73-9C8C-2722-3CC39508E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B5A336A-896F-123F-85F1-7DE8C452180F}"/>
              </a:ext>
            </a:extLst>
          </p:cNvPr>
          <p:cNvSpPr/>
          <p:nvPr/>
        </p:nvSpPr>
        <p:spPr>
          <a:xfrm>
            <a:off x="12344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9D020F-1835-3CEF-A2FB-B5356EDB935E}"/>
              </a:ext>
            </a:extLst>
          </p:cNvPr>
          <p:cNvSpPr/>
          <p:nvPr/>
        </p:nvSpPr>
        <p:spPr>
          <a:xfrm>
            <a:off x="68580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debugging for agent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visualization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OpenAI-compatible API 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./agents --port 8080</a:t>
            </a:r>
            <a:endParaRPr lang="en-US" sz="11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66C436C-DCD2-DA80-3734-601C288A09E6}"/>
              </a:ext>
            </a:extLst>
          </p:cNvPr>
          <p:cNvSpPr/>
          <p:nvPr/>
        </p:nvSpPr>
        <p:spPr>
          <a:xfrm>
            <a:off x="4754880" y="11887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2B6BA38-B785-33AA-2AEF-BAF7DE1ED0DC}"/>
              </a:ext>
            </a:extLst>
          </p:cNvPr>
          <p:cNvSpPr/>
          <p:nvPr/>
        </p:nvSpPr>
        <p:spPr>
          <a:xfrm>
            <a:off x="4754880" y="1188720"/>
            <a:ext cx="73152" cy="2194560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4335EB5-4D26-D052-1094-286AE6E27677}"/>
              </a:ext>
            </a:extLst>
          </p:cNvPr>
          <p:cNvSpPr/>
          <p:nvPr/>
        </p:nvSpPr>
        <p:spPr>
          <a:xfrm>
            <a:off x="55321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AI Toolkit</a:t>
            </a:r>
            <a:endParaRPr lang="en-US" sz="1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1B434B5-2E79-6290-E4AF-EE1B5A4136A4}"/>
              </a:ext>
            </a:extLst>
          </p:cNvPr>
          <p:cNvSpPr/>
          <p:nvPr/>
        </p:nvSpPr>
        <p:spPr>
          <a:xfrm>
            <a:off x="4983480" y="18745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Builder with graph visualizer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workspace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Code Gen (Agent Framework default)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→ Code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integration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2E02806-95A3-A82C-E278-65D17E6E6E79}"/>
              </a:ext>
            </a:extLst>
          </p:cNvPr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B6B696C-7242-54D1-20DE-D767C5F71D14}"/>
              </a:ext>
            </a:extLst>
          </p:cNvPr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Tooling for Agentic Development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97AB59A-84C1-DF0E-C138-683C2756A6D4}"/>
              </a:ext>
            </a:extLst>
          </p:cNvPr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for visual debugging  +  AI Toolkit for rapid prototyping  +  OpenTelemetry for production observability</a:t>
            </a:r>
            <a:endParaRPr lang="en-US" sz="12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3A42078-46F3-F0A0-8037-436B393AA92E}"/>
              </a:ext>
            </a:extLst>
          </p:cNvPr>
          <p:cNvSpPr/>
          <p:nvPr/>
        </p:nvSpPr>
        <p:spPr>
          <a:xfrm>
            <a:off x="457200" y="489204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E9254B8-44B7-C0FB-BE1B-0BE693E187D2}"/>
              </a:ext>
            </a:extLst>
          </p:cNvPr>
          <p:cNvSpPr/>
          <p:nvPr/>
        </p:nvSpPr>
        <p:spPr>
          <a:xfrm>
            <a:off x="822960" y="489204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E3B1DC1-68AE-AFE4-595C-87C3FF5B9961}"/>
              </a:ext>
            </a:extLst>
          </p:cNvPr>
          <p:cNvSpPr/>
          <p:nvPr/>
        </p:nvSpPr>
        <p:spPr>
          <a:xfrm>
            <a:off x="1188720" y="489204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1209D18-1C72-9EFF-9D63-87727FB3FE03}"/>
              </a:ext>
            </a:extLst>
          </p:cNvPr>
          <p:cNvSpPr/>
          <p:nvPr/>
        </p:nvSpPr>
        <p:spPr>
          <a:xfrm>
            <a:off x="1554480" y="489204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6D60A1F-A6EF-D316-15D9-00C3EC499B0E}"/>
              </a:ext>
            </a:extLst>
          </p:cNvPr>
          <p:cNvSpPr/>
          <p:nvPr/>
        </p:nvSpPr>
        <p:spPr>
          <a:xfrm>
            <a:off x="493776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learn.microsoft.com/agent-framework/user-guide/devui</a:t>
            </a:r>
            <a:endParaRPr lang="en-US" sz="900" dirty="0"/>
          </a:p>
        </p:txBody>
      </p:sp>
      <p:pic>
        <p:nvPicPr>
          <p:cNvPr id="23" name="Picture 22" descr="vscode Vector Icons free download in SVG, PNG Format">
            <a:extLst>
              <a:ext uri="{FF2B5EF4-FFF2-40B4-BE49-F238E27FC236}">
                <a16:creationId xmlns:a16="http://schemas.microsoft.com/office/drawing/2014/main" id="{2ACB2CD3-B9F3-F02A-14CB-8E3AA73CF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24" y="145905"/>
            <a:ext cx="879911" cy="879911"/>
          </a:xfrm>
          <a:prstGeom prst="rect">
            <a:avLst/>
          </a:prstGeom>
        </p:spPr>
      </p:pic>
      <p:pic>
        <p:nvPicPr>
          <p:cNvPr id="24" name="Picture 23" descr="vscode Vector Icons free download in SVG, PNG Format">
            <a:extLst>
              <a:ext uri="{FF2B5EF4-FFF2-40B4-BE49-F238E27FC236}">
                <a16:creationId xmlns:a16="http://schemas.microsoft.com/office/drawing/2014/main" id="{155CF1EC-BBFE-4E25-3658-B376057E3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244" y="1255996"/>
            <a:ext cx="595664" cy="595664"/>
          </a:xfrm>
          <a:prstGeom prst="rect">
            <a:avLst/>
          </a:prstGeom>
        </p:spPr>
      </p:pic>
      <p:pic>
        <p:nvPicPr>
          <p:cNvPr id="3" name="Picture 2" descr="connect to MCP server">
            <a:extLst>
              <a:ext uri="{FF2B5EF4-FFF2-40B4-BE49-F238E27FC236}">
                <a16:creationId xmlns:a16="http://schemas.microsoft.com/office/drawing/2014/main" id="{D38B701B-F29A-8139-96D7-C664554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010"/>
            <a:ext cx="7772400" cy="50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0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8720" y="365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Copilot: Agent Framework Prompts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prompts to accelerate migration and development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Kernel → Agent Framework Migration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Transformations: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ChatCompletionAgent    →  ChatClientAgent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OpenAIAssistantAgent   →  AIAgent (via extensions)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InvokeAsync()          →  RunAsync()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[KernelFunction]       →  AIFunctionFactory.Create()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(Semantic Kernel)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await kernel.GetRequiredService&lt;ChatCompletionAgent&gt;();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foreach (var msg in agent.InvokeAsync(thread)) { ...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(Agent Framework)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client.GetChatClient(model).CreateAIAgent();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response = await agent.RunAsync(thread);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188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with Copilot Chat: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18872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github.com/microsoft/agent-framework/.github/upgrades/prompts/SemanticKernelToAgentFramework.md</a:t>
            </a:r>
            <a:endParaRPr lang="en-US" sz="900" dirty="0"/>
          </a:p>
        </p:txBody>
      </p:sp>
      <p:pic>
        <p:nvPicPr>
          <p:cNvPr id="14" name="Picture 13" descr="GitHub Copilot - Visual Studio Marketplace">
            <a:extLst>
              <a:ext uri="{FF2B5EF4-FFF2-40B4-BE49-F238E27FC236}">
                <a16:creationId xmlns:a16="http://schemas.microsoft.com/office/drawing/2014/main" id="{E9E40FAA-FA3E-1560-EC41-F969EDCAD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9875" y="285575"/>
            <a:ext cx="697405" cy="697405"/>
          </a:xfrm>
          <a:prstGeom prst="rect">
            <a:avLst/>
          </a:prstGeom>
        </p:spPr>
      </p:pic>
      <p:pic>
        <p:nvPicPr>
          <p:cNvPr id="16" name="Graphic 15" descr="Badge New with solid fill">
            <a:extLst>
              <a:ext uri="{FF2B5EF4-FFF2-40B4-BE49-F238E27FC236}">
                <a16:creationId xmlns:a16="http://schemas.microsoft.com/office/drawing/2014/main" id="{BE47F6E6-B456-7229-F159-693DFB2BC8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3977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"/>
            <a:ext cx="9144000" cy="10058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AG-UI: Agent-User Interaction Protocol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4864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26480" y="11430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126480" y="1143000"/>
            <a:ext cx="73152" cy="27432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09359" y="1577340"/>
            <a:ext cx="2194561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cs typeface="Segoe UI" pitchFamily="34" charset="-120"/>
              </a:rPr>
              <a:t>Agentic Orchestration Surface for Humans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Transparency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 Memory Visualization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Agents to Enterprise Workflows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Types:  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828800" y="4160520"/>
            <a:ext cx="105156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82880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RUN_START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926080" y="4160520"/>
            <a:ext cx="1051560" cy="4114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2608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TEXT_DELTA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4023360" y="4160520"/>
            <a:ext cx="105156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02336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120640" y="4160520"/>
            <a:ext cx="1051560" cy="4114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12064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STATE_DELTA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217920" y="4160520"/>
            <a:ext cx="1051560" cy="41148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1792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7315200" y="4160520"/>
            <a:ext cx="105156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1520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RUN_END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docs.ag-ui.com  |  github.com/ag-ui-protocol/ag-</a:t>
            </a:r>
            <a:r>
              <a:rPr lang="en-US" sz="90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90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dojo.ag-ui.com</a:t>
            </a:r>
            <a:endParaRPr lang="en-US" sz="900" dirty="0"/>
          </a:p>
        </p:txBody>
      </p:sp>
      <p:pic>
        <p:nvPicPr>
          <p:cNvPr id="27" name="Picture 26" descr="AG-UI Icon SVG Vector &amp; PNG Free Download | UXWing">
            <a:extLst>
              <a:ext uri="{FF2B5EF4-FFF2-40B4-BE49-F238E27FC236}">
                <a16:creationId xmlns:a16="http://schemas.microsoft.com/office/drawing/2014/main" id="{DC9D97C9-4A54-A5B4-EAC4-F2DC885FB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86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SRE Agent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service for monitoring, diagnosing, and resolving Azure infrastructure issues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00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20K+  Engineering hours saved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solidFill>
            <a:srgbClr val="00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3756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 Continuous monitoring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solidFill>
            <a:srgbClr val="006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  Natural language commands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2011680" cy="54864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continuous monitoring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651760" y="242316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651760" y="2423160"/>
            <a:ext cx="2011680" cy="54864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560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432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74320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logs, metrics, deployments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846320" y="242316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46320" y="2423160"/>
            <a:ext cx="2011680" cy="54864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603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377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Code-Aware RCA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3776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to GitHub/ADO source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040880" y="242316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040880" y="2423160"/>
            <a:ext cx="2011680" cy="54864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5603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System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13232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from past incidents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Integrations: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Monitor  •  PagerDuty  •  ServiceNow  •  GitHub  •  ADO  •  Dynatrace  •  New Relic  •  Datadog  •  Teams  •  Outlook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learn.microsoft.com/azure/sre-agent/overview</a:t>
            </a:r>
            <a:endParaRPr lang="en-US" sz="900" dirty="0"/>
          </a:p>
        </p:txBody>
      </p:sp>
      <p:pic>
        <p:nvPicPr>
          <p:cNvPr id="37" name="Picture 36" descr="Microsoft Azure Logo, symbol, meaning, history, PNG, brand">
            <a:extLst>
              <a:ext uri="{FF2B5EF4-FFF2-40B4-BE49-F238E27FC236}">
                <a16:creationId xmlns:a16="http://schemas.microsoft.com/office/drawing/2014/main" id="{A51B50C6-B436-FCEF-7240-5F5203315B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0198" y="186917"/>
            <a:ext cx="780922" cy="4392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9728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SRE Agent: Memory &amp; Extensibility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System: "Never Explain Context Twice"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54864" cy="77724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Facts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preferences across conversations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554480"/>
            <a:ext cx="54864" cy="77724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 Retrieval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relevant docs during troubleshooting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55448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1554480"/>
            <a:ext cx="54864" cy="7772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Learning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6364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from past incident patterns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Extensibility Model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73152" cy="59436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44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Sub-Agent Builder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234440" y="3246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No-code specialized agents with triggers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57200" y="3611880"/>
            <a:ext cx="73152" cy="59436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234440" y="39319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your own actions via remote MCP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8912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344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Actions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234440" y="46177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cli, kubectl, GitHub, Teams, Outlook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57200" y="489204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22960" y="489204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1188720" y="489204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1554480" y="489204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more: learn.microsoft.com/azure/sre-agent/subagent-builder-overview</a:t>
            </a:r>
            <a:endParaRPr lang="en-US" sz="900" dirty="0"/>
          </a:p>
        </p:txBody>
      </p:sp>
      <p:pic>
        <p:nvPicPr>
          <p:cNvPr id="39" name="Picture 38" descr="Microsoft Azure Logo, symbol, meaning, history, PNG, brand">
            <a:extLst>
              <a:ext uri="{FF2B5EF4-FFF2-40B4-BE49-F238E27FC236}">
                <a16:creationId xmlns:a16="http://schemas.microsoft.com/office/drawing/2014/main" id="{5A382CC3-7A1D-CFDA-6ED0-D452FB42E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08" y="329005"/>
            <a:ext cx="780922" cy="439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2 &amp; 3: SRE Agent Hands-On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0175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2: SRE Agent Basics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SRE Agent in Portal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Azure Monitor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investigation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report generation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10 min  |  lab2-sre-agent-basics.ipynb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017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3: Extensibility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6916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custom sub-agent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triggers &amp; instructions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MCP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notification workflow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incident automation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10 min  |  lab3-sre-extensibility.ipynb</a:t>
            </a:r>
            <a:endParaRPr lang="en-US" sz="1100" dirty="0"/>
          </a:p>
        </p:txBody>
      </p:sp>
      <p:pic>
        <p:nvPicPr>
          <p:cNvPr id="12" name="Picture 11" descr="Microsoft Azure Logo, symbol, meaning, history, PNG, brand">
            <a:extLst>
              <a:ext uri="{FF2B5EF4-FFF2-40B4-BE49-F238E27FC236}">
                <a16:creationId xmlns:a16="http://schemas.microsoft.com/office/drawing/2014/main" id="{67663D88-A3A9-B860-EF3F-8A0098DB0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8" y="420445"/>
            <a:ext cx="780922" cy="4392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primitives (Agent, Thread, Run, Tool) abstract orchestration complexity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5623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947672"/>
            <a:ext cx="457200" cy="457200"/>
          </a:xfrm>
          <a:prstGeom prst="ellipse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+ AI Toolkit + OpenTelemetry form the "golden triangle" for development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694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" y="2660904"/>
            <a:ext cx="457200" cy="457200"/>
          </a:xfrm>
          <a:prstGeom prst="ellipse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26609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prompts accelerate Semantic Kernel → Agent Framework migration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8269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3741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SRE Agent applies agent patterns for enterprise-scale operational intelligence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99592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" y="408736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4087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Extensibility via sub-agents and MCP enables customization without rebuilding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89204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" y="489204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88720" y="489204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554480" y="489204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 GitHub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23444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github.com/microsoft/agent-framework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4754880" y="91440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1556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21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 Docs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5321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learn.microsoft.com/agent-framework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457200" y="187452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075688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SRE Agent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23444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learn.microsoft.com/azure/sre-agent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4754880" y="187452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07568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212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DevUI Guide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53212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learn.microsoft.com/agent-framework/user-guide/devui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457200" y="283464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035808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3444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AI Toolkit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23444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code.visualstudio.com/docs/intelligentapps</a:t>
            </a:r>
            <a:endParaRPr lang="en-US" sz="800" dirty="0"/>
          </a:p>
        </p:txBody>
      </p:sp>
      <p:sp>
        <p:nvSpPr>
          <p:cNvPr id="24" name="Shape 16"/>
          <p:cNvSpPr/>
          <p:nvPr/>
        </p:nvSpPr>
        <p:spPr>
          <a:xfrm>
            <a:off x="4754880" y="2834640"/>
            <a:ext cx="39319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035808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321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Migration Prompt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53212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github.com/.../SemanticKernelToAgentFramework.md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Questions? Feedback? Reach out or explore the docs above.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57200" y="4754880"/>
            <a:ext cx="365760" cy="7315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822960" y="4754880"/>
            <a:ext cx="365760" cy="7315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1188720" y="4754880"/>
            <a:ext cx="36576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1554480" y="4754880"/>
            <a:ext cx="365760" cy="7315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37160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137160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13716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attending!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materials: lab1-agent-basics.ipynb  |  lab2-sre-agent-basics.ipynb  |  lab3-sre-extensibility.ipynb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1579</Words>
  <Application>Microsoft Macintosh PowerPoint</Application>
  <PresentationFormat>On-screen Show (16:9)</PresentationFormat>
  <Paragraphs>254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Agent Framework &amp; Azure SRE Agent Workshop</dc:title>
  <dc:subject>Hands-On Technical Workshop</dc:subject>
  <dc:creator>Jin Lee</dc:creator>
  <cp:lastModifiedBy>Jin Lee (HLS US SE)</cp:lastModifiedBy>
  <cp:revision>32</cp:revision>
  <dcterms:created xsi:type="dcterms:W3CDTF">2026-02-01T23:44:47Z</dcterms:created>
  <dcterms:modified xsi:type="dcterms:W3CDTF">2026-02-02T02:50:05Z</dcterms:modified>
</cp:coreProperties>
</file>